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6858000" cx="12192000"/>
  <p:notesSz cx="6858000" cy="12192000"/>
  <p:embeddedFontLst>
    <p:embeddedFont>
      <p:font typeface="Nanum Gothic"/>
      <p:regular r:id="rId42"/>
      <p:bold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4" roundtripDataSignature="AMtx7mi376VznVidBztpQk1Wn3HU7YRw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F53D6E-77AE-46F8-B0E6-74BFDA289CB4}">
  <a:tblStyle styleId="{AFF53D6E-77AE-46F8-B0E6-74BFDA289CB4}" styleName="Table_0">
    <a:wholeTbl>
      <a:tcTxStyle b="off" i="off">
        <a:font>
          <a:latin typeface="나눔고딕"/>
          <a:ea typeface="나눔고딕"/>
          <a:cs typeface="나눔고딕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0678A94-BCEC-4059-AE5D-A8028761868B}" styleName="Table_1">
    <a:wholeTbl>
      <a:tcTxStyle b="off" i="off">
        <a:font>
          <a:latin typeface="나눔고딕"/>
          <a:ea typeface="나눔고딕"/>
          <a:cs typeface="나눔고딕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NanumGothic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NanumGothic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" name="Google Shape;1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" name="Google Shape;1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" name="Google Shape;8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h7ba9a5772fd67660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h7ba9a5772fd67660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7ba9a5772fd67660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5" name="Google Shape;525;h7ba9a5772fd67660_0_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h2e31e1e379926e4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4" name="Google Shape;574;h2e31e1e379926e4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0" name="Google Shape;67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9" name="Google Shape;67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h2e31e1e379926e44_0_1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4" name="Google Shape;704;h2e31e1e379926e44_0_1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h2e31e1e379926e44_0_2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7" name="Google Shape;727;h2e31e1e379926e44_0_2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h2e31e1e379926e44_0_2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2" name="Google Shape;762;h2e31e1e379926e44_0_2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h2e31e1e379926e44_0_2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h2e31e1e379926e44_0_2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h2e31e1e379926e44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h2e31e1e379926e44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h2e31e1e379926e44_0_2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h2e31e1e379926e44_0_2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h2e31e1e379926e44_0_3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h2e31e1e379926e44_0_3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h2e31e1e379926e44_0_3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9" name="Google Shape;869;h2e31e1e379926e44_0_3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h2e31e1e379926e44_0_3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0" name="Google Shape;900;h2e31e1e379926e44_0_3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0" name="Google Shape;92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4" name="Google Shape;94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h2db7eeea19bf2b64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4" name="Google Shape;954;h2db7eeea19bf2b64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h2e31e1e379926e44_0_3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7" name="Google Shape;977;h2e31e1e379926e44_0_3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h7922228e669e87b5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6" name="Google Shape;996;h7922228e669e87b5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h7922228e669e87b5_0_1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h7922228e669e87b5_0_1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h7922228e669e87b5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2" name="Google Shape;1032;h7922228e669e87b5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6" name="Google Shape;1056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7" name="Google Shape;1077;p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h7922228e669e87b5_0_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2" name="Google Shape;1102;h7922228e669e87b5_0_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3" name="Google Shape;1103;h7922228e669e87b5_0_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9" name="Google Shape;1129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bg>
      <p:bgPr>
        <a:solidFill>
          <a:srgbClr val="E3EB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8"/>
          <p:cNvSpPr txBox="1"/>
          <p:nvPr>
            <p:ph type="title"/>
          </p:nvPr>
        </p:nvSpPr>
        <p:spPr>
          <a:xfrm>
            <a:off x="4626620" y="861020"/>
            <a:ext cx="29387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  <a:defRPr sz="3000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8"/>
          <p:cNvSpPr txBox="1"/>
          <p:nvPr>
            <p:ph idx="1" type="body"/>
          </p:nvPr>
        </p:nvSpPr>
        <p:spPr>
          <a:xfrm>
            <a:off x="4626620" y="1623020"/>
            <a:ext cx="6752580" cy="4422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1413"/>
              </a:buClr>
              <a:buSzPts val="1600"/>
              <a:buNone/>
              <a:defRPr sz="1600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 txBox="1"/>
          <p:nvPr>
            <p:ph type="title"/>
          </p:nvPr>
        </p:nvSpPr>
        <p:spPr>
          <a:xfrm>
            <a:off x="4626620" y="861020"/>
            <a:ext cx="293871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  <a:defRPr b="0" i="0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47"/>
          <p:cNvSpPr txBox="1"/>
          <p:nvPr>
            <p:ph idx="1" type="body"/>
          </p:nvPr>
        </p:nvSpPr>
        <p:spPr>
          <a:xfrm>
            <a:off x="4626620" y="1623020"/>
            <a:ext cx="6752580" cy="4422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40000"/>
              </a:lnSpc>
              <a:spcBef>
                <a:spcPts val="320"/>
              </a:spcBef>
              <a:spcAft>
                <a:spcPts val="0"/>
              </a:spcAft>
              <a:buClr>
                <a:srgbClr val="141413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42.png"/><Relationship Id="rId8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2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Relationship Id="rId5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Relationship Id="rId5" Type="http://schemas.openxmlformats.org/officeDocument/2006/relationships/image" Target="../media/image3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6.png"/><Relationship Id="rId4" Type="http://schemas.openxmlformats.org/officeDocument/2006/relationships/image" Target="../media/image24.png"/><Relationship Id="rId5" Type="http://schemas.openxmlformats.org/officeDocument/2006/relationships/image" Target="../media/image3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9.gif"/><Relationship Id="rId4" Type="http://schemas.openxmlformats.org/officeDocument/2006/relationships/image" Target="../media/image40.gif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09600" y="609600"/>
            <a:ext cx="10972800" cy="495052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1219200" y="2559050"/>
            <a:ext cx="6069584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5000"/>
              <a:buFont typeface="Arial"/>
              <a:buNone/>
            </a:pPr>
            <a:r>
              <a:rPr b="1" lang="en-US" sz="5000">
                <a:latin typeface="Nanum Gothic"/>
                <a:ea typeface="Nanum Gothic"/>
                <a:cs typeface="Nanum Gothic"/>
                <a:sym typeface="Nanum Gothic"/>
              </a:rPr>
              <a:t>UART(RX,TX) + FIFO Loopback</a:t>
            </a:r>
            <a:endParaRPr sz="50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1219200" y="4197350"/>
            <a:ext cx="6069584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겹쳐진 파란 판 세 장"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6800" y="1624310"/>
            <a:ext cx="3556000" cy="292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/>
          <p:nvPr/>
        </p:nvSpPr>
        <p:spPr>
          <a:xfrm>
            <a:off x="609600" y="5712520"/>
            <a:ext cx="10972800" cy="535880"/>
          </a:xfrm>
          <a:prstGeom prst="roundRect">
            <a:avLst>
              <a:gd fmla="val 18959" name="adj"/>
            </a:avLst>
          </a:prstGeom>
          <a:solidFill>
            <a:srgbClr val="FFFFFF"/>
          </a:solidFill>
          <a:ln>
            <a:noFill/>
          </a:ln>
          <a:effectLst>
            <a:outerShdw blurRad="152400" rotWithShape="0" algn="bl" dir="5400000" dist="50800">
              <a:srgbClr val="3A70F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3712270" y="5864920"/>
            <a:ext cx="725210" cy="256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Arial"/>
              <a:buNone/>
            </a:pPr>
            <a:r>
              <a:t/>
            </a:r>
            <a:endParaRPr b="0" i="0" sz="120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056000" y="5864925"/>
            <a:ext cx="47910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300"/>
              <a:buFont typeface="Arial"/>
              <a:buNone/>
            </a:pPr>
            <a:r>
              <a:rPr b="0" i="0" lang="en-US" sz="14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이름: 조수영		날짜: 2026.10.26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812800" y="1016000"/>
            <a:ext cx="3401060" cy="7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4800"/>
              <a:buFont typeface="Arial"/>
              <a:buNone/>
            </a:pPr>
            <a:r>
              <a:rPr b="1" i="0" lang="en-US" sz="4800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Contents</a:t>
            </a:r>
            <a:endParaRPr sz="48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06450" y="1757850"/>
            <a:ext cx="7344300" cy="35037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>
            <a:noFill/>
          </a:ln>
          <a:effectLst>
            <a:outerShdw blurRad="280320" rotWithShape="0" algn="bl" dir="5400000" dist="84096">
              <a:srgbClr val="3A70FC">
                <a:alpha val="10196"/>
              </a:srgbClr>
            </a:outerShdw>
          </a:effectLst>
        </p:spPr>
        <p:txBody>
          <a:bodyPr anchorCtr="0" anchor="ctr" bIns="100900" lIns="100900" spcFirstLastPara="1" rIns="100900" wrap="square" tIns="100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66"/>
              <a:buFont typeface="Arial"/>
              <a:buNone/>
            </a:pPr>
            <a:r>
              <a:t/>
            </a:r>
            <a:endParaRPr i="0" sz="1766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101826" y="2352246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Arial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Nanum Gothic"/>
                <a:ea typeface="Nanum Gothic"/>
                <a:cs typeface="Nanum Gothic"/>
                <a:sym typeface="Nanum Gothic"/>
              </a:rPr>
              <a:t>01</a:t>
            </a:r>
            <a:endParaRPr i="0" sz="176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501610" y="2331222"/>
            <a:ext cx="228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개요</a:t>
            </a:r>
            <a:endParaRPr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8325502" y="2352246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Arial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Nanum Gothic"/>
                <a:ea typeface="Nanum Gothic"/>
                <a:cs typeface="Nanum Gothic"/>
                <a:sym typeface="Nanum Gothic"/>
              </a:rPr>
              <a:t>05</a:t>
            </a:r>
            <a:endParaRPr i="0" sz="176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8725286" y="2875003"/>
            <a:ext cx="19152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동작 영상</a:t>
            </a:r>
            <a:endParaRPr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101826" y="2896023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Arial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Nanum Gothic"/>
                <a:ea typeface="Nanum Gothic"/>
                <a:cs typeface="Nanum Gothic"/>
                <a:sym typeface="Nanum Gothic"/>
              </a:rPr>
              <a:t>02</a:t>
            </a:r>
            <a:endParaRPr i="0" sz="176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501595" y="2875000"/>
            <a:ext cx="2611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rPr b="1" i="0" lang="en-US" sz="1876" u="none" cap="none" strike="noStrike">
                <a:solidFill>
                  <a:schemeClr val="dk1"/>
                </a:solidFill>
                <a:latin typeface="Nanum Gothic"/>
                <a:ea typeface="Nanum Gothic"/>
                <a:cs typeface="Nanum Gothic"/>
                <a:sym typeface="Nanum Gothic"/>
              </a:rPr>
              <a:t>블럭 다이어그램</a:t>
            </a:r>
            <a:endParaRPr b="1"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325502" y="2896023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Arial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Nanum Gothic"/>
                <a:ea typeface="Nanum Gothic"/>
                <a:cs typeface="Nanum Gothic"/>
                <a:sym typeface="Nanum Gothic"/>
              </a:rPr>
              <a:t>06</a:t>
            </a:r>
            <a:endParaRPr i="0" sz="176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725286" y="3418780"/>
            <a:ext cx="25302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결론 및 고찰</a:t>
            </a:r>
            <a:endParaRPr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101826" y="3439798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Arial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Nanum Gothic"/>
                <a:ea typeface="Nanum Gothic"/>
                <a:cs typeface="Nanum Gothic"/>
                <a:sym typeface="Nanum Gothic"/>
              </a:rPr>
              <a:t>03</a:t>
            </a:r>
            <a:endParaRPr i="0" sz="176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501599" y="3418775"/>
            <a:ext cx="22119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Related Technical</a:t>
            </a:r>
            <a:endParaRPr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8325502" y="3439798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Arial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Nanum Gothic"/>
                <a:ea typeface="Nanum Gothic"/>
                <a:cs typeface="Nanum Gothic"/>
                <a:sym typeface="Nanum Gothic"/>
              </a:rPr>
              <a:t>07</a:t>
            </a:r>
            <a:endParaRPr i="0" sz="176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501624" y="4365763"/>
            <a:ext cx="18756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t/>
            </a:r>
            <a:endParaRPr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101826" y="3983574"/>
            <a:ext cx="365125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6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545"/>
              <a:buFont typeface="Arial"/>
              <a:buNone/>
            </a:pPr>
            <a:r>
              <a:rPr b="1" i="0" lang="en-US" sz="1766" u="none" cap="none" strike="noStrike">
                <a:solidFill>
                  <a:srgbClr val="3A70FC"/>
                </a:solidFill>
                <a:latin typeface="Nanum Gothic"/>
                <a:ea typeface="Nanum Gothic"/>
                <a:cs typeface="Nanum Gothic"/>
                <a:sym typeface="Nanum Gothic"/>
              </a:rPr>
              <a:t>04</a:t>
            </a:r>
            <a:endParaRPr i="0" sz="176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501594" y="3962550"/>
            <a:ext cx="22800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시뮬레이션 시나리오</a:t>
            </a:r>
            <a:endParaRPr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8725300" y="2331229"/>
            <a:ext cx="2336800" cy="3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17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655"/>
              <a:buFont typeface="Arial"/>
              <a:buNone/>
            </a:pPr>
            <a:r>
              <a:rPr b="1" i="0" lang="en-US" sz="1876" u="none" cap="none" strike="noStrike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시뮬레이션 결과</a:t>
            </a:r>
            <a:endParaRPr i="0" sz="1876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0058400" y="6339880"/>
            <a:ext cx="1320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 txBox="1"/>
          <p:nvPr>
            <p:ph type="title"/>
          </p:nvPr>
        </p:nvSpPr>
        <p:spPr>
          <a:xfrm>
            <a:off x="4099332" y="756845"/>
            <a:ext cx="39933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i="0" lang="en-US" sz="3000">
                <a:solidFill>
                  <a:srgbClr val="282828"/>
                </a:solidFill>
                <a:latin typeface="Nanum Gothic"/>
                <a:ea typeface="Nanum Gothic"/>
                <a:cs typeface="Nanum Gothic"/>
                <a:sym typeface="Nanum Gothic"/>
              </a:rPr>
              <a:t>프로젝트 개요</a:t>
            </a:r>
            <a:endParaRPr sz="3000"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812800" y="1496020"/>
            <a:ext cx="10566300" cy="4599900"/>
          </a:xfrm>
          <a:prstGeom prst="roundRect">
            <a:avLst>
              <a:gd fmla="val 2761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1097280" y="1664208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설계 목적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097280" y="1993392"/>
            <a:ext cx="996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i="0" lang="en-US" sz="1800" u="none" cap="none" strike="noStrike">
                <a:solidFill>
                  <a:srgbClr val="141413"/>
                </a:solidFill>
                <a:latin typeface="Nanum Gothic"/>
                <a:ea typeface="Nanum Gothic"/>
                <a:cs typeface="Nanum Gothic"/>
                <a:sym typeface="Nanum Gothic"/>
              </a:rPr>
              <a:t>UART RX · TX와 FIFO를 설계한 뒤, 루프백 구조로 묶어 전체 데이터 경로를 한 번에 검증</a:t>
            </a:r>
            <a:endParaRPr i="0" sz="18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097280" y="2432304"/>
            <a:ext cx="1234440" cy="365760"/>
          </a:xfrm>
          <a:prstGeom prst="roundRect">
            <a:avLst>
              <a:gd fmla="val 30000" name="adj"/>
            </a:avLst>
          </a:prstGeom>
          <a:solidFill>
            <a:srgbClr val="F3F4F7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PC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" name="Google Shape;64;p5"/>
          <p:cNvCxnSpPr/>
          <p:nvPr/>
        </p:nvCxnSpPr>
        <p:spPr>
          <a:xfrm>
            <a:off x="2359152" y="2615184"/>
            <a:ext cx="384048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" name="Google Shape;65;p5"/>
          <p:cNvSpPr/>
          <p:nvPr/>
        </p:nvSpPr>
        <p:spPr>
          <a:xfrm>
            <a:off x="2770632" y="2432304"/>
            <a:ext cx="1234440" cy="36576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p5"/>
          <p:cNvCxnSpPr/>
          <p:nvPr/>
        </p:nvCxnSpPr>
        <p:spPr>
          <a:xfrm>
            <a:off x="4032504" y="2615184"/>
            <a:ext cx="384048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" name="Google Shape;67;p5"/>
          <p:cNvSpPr/>
          <p:nvPr/>
        </p:nvSpPr>
        <p:spPr>
          <a:xfrm>
            <a:off x="4443984" y="2432304"/>
            <a:ext cx="1234440" cy="365760"/>
          </a:xfrm>
          <a:prstGeom prst="roundRect">
            <a:avLst>
              <a:gd fmla="val 3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8A7E"/>
                </a:solidFill>
                <a:latin typeface="Arial"/>
                <a:ea typeface="Arial"/>
                <a:cs typeface="Arial"/>
                <a:sym typeface="Arial"/>
              </a:rPr>
              <a:t>RX FIFO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" name="Google Shape;68;p5"/>
          <p:cNvCxnSpPr/>
          <p:nvPr/>
        </p:nvCxnSpPr>
        <p:spPr>
          <a:xfrm>
            <a:off x="5705856" y="2615184"/>
            <a:ext cx="384048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" name="Google Shape;69;p5"/>
          <p:cNvSpPr/>
          <p:nvPr/>
        </p:nvSpPr>
        <p:spPr>
          <a:xfrm>
            <a:off x="6117336" y="2432304"/>
            <a:ext cx="1234440" cy="365760"/>
          </a:xfrm>
          <a:prstGeom prst="roundRect">
            <a:avLst>
              <a:gd fmla="val 3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F8A7E"/>
                </a:solidFill>
                <a:latin typeface="Arial"/>
                <a:ea typeface="Arial"/>
                <a:cs typeface="Arial"/>
                <a:sym typeface="Arial"/>
              </a:rPr>
              <a:t>TX FIFO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70;p5"/>
          <p:cNvCxnSpPr/>
          <p:nvPr/>
        </p:nvCxnSpPr>
        <p:spPr>
          <a:xfrm>
            <a:off x="7379208" y="2615184"/>
            <a:ext cx="384048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1" name="Google Shape;71;p5"/>
          <p:cNvSpPr/>
          <p:nvPr/>
        </p:nvSpPr>
        <p:spPr>
          <a:xfrm>
            <a:off x="7790688" y="2432304"/>
            <a:ext cx="1234440" cy="36576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" name="Google Shape;72;p5"/>
          <p:cNvCxnSpPr/>
          <p:nvPr/>
        </p:nvCxnSpPr>
        <p:spPr>
          <a:xfrm>
            <a:off x="9052560" y="2615184"/>
            <a:ext cx="384048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3" name="Google Shape;73;p5"/>
          <p:cNvSpPr/>
          <p:nvPr/>
        </p:nvSpPr>
        <p:spPr>
          <a:xfrm>
            <a:off x="9464040" y="2432304"/>
            <a:ext cx="1234440" cy="365760"/>
          </a:xfrm>
          <a:prstGeom prst="roundRect">
            <a:avLst>
              <a:gd fmla="val 30000" name="adj"/>
            </a:avLst>
          </a:prstGeom>
          <a:solidFill>
            <a:srgbClr val="F3F4F7"/>
          </a:solidFill>
          <a:ln>
            <a:noFill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PC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097280" y="301752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하드웨어 · 소프트웨어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097280" y="3401568"/>
            <a:ext cx="44805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Nanum Gothic"/>
              <a:buChar char="•"/>
            </a:pPr>
            <a:r>
              <a:rPr i="0" lang="en-US" sz="1200" u="none" cap="none" strike="noStrike">
                <a:solidFill>
                  <a:srgbClr val="141413"/>
                </a:solidFill>
                <a:latin typeface="Nanum Gothic"/>
                <a:ea typeface="Nanum Gothic"/>
                <a:cs typeface="Nanum Gothic"/>
                <a:sym typeface="Nanum Gothic"/>
              </a:rPr>
              <a:t>보드 : Basys 3 (AMD Xilinx Artix-7), 100 MHz 클럭</a:t>
            </a:r>
            <a:endParaRPr i="0" sz="12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Nanum Gothic"/>
              <a:buChar char="•"/>
            </a:pPr>
            <a:r>
              <a:rPr i="0" lang="en-US" sz="1200" u="none" cap="none" strike="noStrike">
                <a:solidFill>
                  <a:srgbClr val="141413"/>
                </a:solidFill>
                <a:latin typeface="Nanum Gothic"/>
                <a:ea typeface="Nanum Gothic"/>
                <a:cs typeface="Nanum Gothic"/>
                <a:sym typeface="Nanum Gothic"/>
              </a:rPr>
              <a:t>HDL · 개발 환경 : Verilog, Vivado</a:t>
            </a:r>
            <a:endParaRPr i="0" sz="12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Nanum Gothic"/>
              <a:buChar char="•"/>
            </a:pPr>
            <a:r>
              <a:rPr i="0" lang="en-US" sz="1200" u="none" cap="none" strike="noStrike">
                <a:solidFill>
                  <a:srgbClr val="141413"/>
                </a:solidFill>
                <a:latin typeface="Nanum Gothic"/>
                <a:ea typeface="Nanum Gothic"/>
                <a:cs typeface="Nanum Gothic"/>
                <a:sym typeface="Nanum Gothic"/>
              </a:rPr>
              <a:t>UART 테스트 프로그램 : ComportMaster</a:t>
            </a:r>
            <a:endParaRPr i="0" sz="1200" u="none" cap="none" strike="noStrike">
              <a:solidFill>
                <a:srgbClr val="000000"/>
              </a:solidFill>
              <a:latin typeface="Nanum Gothic"/>
              <a:ea typeface="Nanum Gothic"/>
              <a:cs typeface="Nanum Gothic"/>
              <a:sym typeface="Nanum Gothic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5989320" y="301752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설계 사양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7" name="Google Shape;77;p5"/>
          <p:cNvGraphicFramePr/>
          <p:nvPr/>
        </p:nvGraphicFramePr>
        <p:xfrm>
          <a:off x="5989320" y="3383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{AFF53D6E-77AE-46F8-B0E6-74BFDA289CB4}</a:tableStyleId>
              </a:tblPr>
              <a:tblGrid>
                <a:gridCol w="1325875"/>
                <a:gridCol w="3886200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시스템 클럭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 MHz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통신 형식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9600 bps, 8N1 (Data 8 · Parity 없음 · Stop 1)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오버샘플링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16배, 651분주 (오차 +0.006%)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FIFO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깊이 4 × 8bit, RX · TX 각 1개 (최대 8바이트)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리셋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비동기, 액티브 하이</a:t>
                      </a:r>
                      <a:endParaRPr sz="10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8" name="Google Shape;78;p5"/>
          <p:cNvSpPr txBox="1"/>
          <p:nvPr/>
        </p:nvSpPr>
        <p:spPr>
          <a:xfrm>
            <a:off x="1097280" y="4664465"/>
            <a:ext cx="5486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97275" y="4993563"/>
            <a:ext cx="9966900" cy="931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8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UART +FIFO 의 루프백 구조로 설계, 랜덤한 값을 256번 넣은 검증테스트 pass</a:t>
            </a:r>
            <a:endParaRPr b="0" i="0" sz="1800" u="none" cap="none" strike="noStrike">
              <a:solidFill>
                <a:srgbClr val="5F647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8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rx 감지지연 랜덤 x시 오차 -4.8~6.9%에서 정상 수신 | 감지 지연 랜덤 시 오차 -4.8~6.2%에서 정상 수신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DF2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165899" y="1128952"/>
            <a:ext cx="11860200" cy="54429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57200" y="257175"/>
            <a:ext cx="5715000" cy="61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블럭 다이어그램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65899" y="1128952"/>
            <a:ext cx="11860200" cy="54429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1261872" y="149047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uart_fifo_loopback</a:t>
            </a:r>
            <a:r>
              <a:rPr b="0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  (Top)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325880" y="2011680"/>
            <a:ext cx="1828800" cy="2240280"/>
          </a:xfrm>
          <a:prstGeom prst="roundRect">
            <a:avLst>
              <a:gd fmla="val 6000" name="adj"/>
            </a:avLst>
          </a:prstGeom>
          <a:solidFill>
            <a:srgbClr val="EEF3FF"/>
          </a:solidFill>
          <a:ln cap="flat" cmpd="sng" w="12700">
            <a:solidFill>
              <a:srgbClr val="B8C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325880" y="2011680"/>
            <a:ext cx="1828800" cy="384048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uart_rx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069080" y="2011680"/>
            <a:ext cx="1828800" cy="2240280"/>
          </a:xfrm>
          <a:prstGeom prst="roundRect">
            <a:avLst>
              <a:gd fmla="val 6000" name="adj"/>
            </a:avLst>
          </a:prstGeom>
          <a:solidFill>
            <a:srgbClr val="E8F5F2"/>
          </a:solidFill>
          <a:ln cap="flat" cmpd="sng" w="12700">
            <a:solidFill>
              <a:srgbClr val="A9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069080" y="2011680"/>
            <a:ext cx="1828800" cy="384048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RX FIFO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6812280" y="2011680"/>
            <a:ext cx="1828800" cy="2240280"/>
          </a:xfrm>
          <a:prstGeom prst="roundRect">
            <a:avLst>
              <a:gd fmla="val 6000" name="adj"/>
            </a:avLst>
          </a:prstGeom>
          <a:solidFill>
            <a:srgbClr val="E8F5F2"/>
          </a:solidFill>
          <a:ln cap="flat" cmpd="sng" w="12700">
            <a:solidFill>
              <a:srgbClr val="A9D8C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812280" y="2011680"/>
            <a:ext cx="1828800" cy="384048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TX FIFO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555480" y="2011680"/>
            <a:ext cx="1828800" cy="2240280"/>
          </a:xfrm>
          <a:prstGeom prst="roundRect">
            <a:avLst>
              <a:gd fmla="val 6000" name="adj"/>
            </a:avLst>
          </a:prstGeom>
          <a:solidFill>
            <a:srgbClr val="EEF3FF"/>
          </a:solidFill>
          <a:ln cap="flat" cmpd="sng" w="12700">
            <a:solidFill>
              <a:srgbClr val="B8C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9555480" y="2011680"/>
            <a:ext cx="1828800" cy="384048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uart_tx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1399032" y="2478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clk, rst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1399032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1399032" y="3621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1709928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rx_done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1709928" y="32552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rx_data[7:0]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4142232" y="2478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clk, rst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 txBox="1"/>
          <p:nvPr/>
        </p:nvSpPr>
        <p:spPr>
          <a:xfrm>
            <a:off x="4142232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4142232" y="32552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push_data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 txBox="1"/>
          <p:nvPr/>
        </p:nvSpPr>
        <p:spPr>
          <a:xfrm>
            <a:off x="4453128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empty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6"/>
          <p:cNvSpPr txBox="1"/>
          <p:nvPr/>
        </p:nvSpPr>
        <p:spPr>
          <a:xfrm>
            <a:off x="4453128" y="32552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pop_data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 txBox="1"/>
          <p:nvPr/>
        </p:nvSpPr>
        <p:spPr>
          <a:xfrm>
            <a:off x="4453128" y="3621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 txBox="1"/>
          <p:nvPr/>
        </p:nvSpPr>
        <p:spPr>
          <a:xfrm>
            <a:off x="6885432" y="2478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clk, rst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6"/>
          <p:cNvSpPr txBox="1"/>
          <p:nvPr/>
        </p:nvSpPr>
        <p:spPr>
          <a:xfrm>
            <a:off x="6885432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push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6"/>
          <p:cNvSpPr txBox="1"/>
          <p:nvPr/>
        </p:nvSpPr>
        <p:spPr>
          <a:xfrm>
            <a:off x="6885432" y="32552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push_data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 txBox="1"/>
          <p:nvPr/>
        </p:nvSpPr>
        <p:spPr>
          <a:xfrm>
            <a:off x="6885432" y="3621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full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6"/>
          <p:cNvSpPr txBox="1"/>
          <p:nvPr/>
        </p:nvSpPr>
        <p:spPr>
          <a:xfrm>
            <a:off x="7196328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empty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7196328" y="32552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pop_data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7196328" y="3621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9628632" y="2478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clk, rst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9628632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tx_start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/>
        </p:nvSpPr>
        <p:spPr>
          <a:xfrm>
            <a:off x="9628632" y="325526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tx_data[7:0]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 txBox="1"/>
          <p:nvPr/>
        </p:nvSpPr>
        <p:spPr>
          <a:xfrm>
            <a:off x="9628632" y="362102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tx_busy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 txBox="1"/>
          <p:nvPr/>
        </p:nvSpPr>
        <p:spPr>
          <a:xfrm>
            <a:off x="9628632" y="391363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 txBox="1"/>
          <p:nvPr/>
        </p:nvSpPr>
        <p:spPr>
          <a:xfrm>
            <a:off x="9939528" y="2889504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6"/>
          <p:cNvSpPr txBox="1"/>
          <p:nvPr/>
        </p:nvSpPr>
        <p:spPr>
          <a:xfrm>
            <a:off x="137160" y="2478024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clk, rst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" name="Google Shape;121;p6"/>
          <p:cNvCxnSpPr/>
          <p:nvPr/>
        </p:nvCxnSpPr>
        <p:spPr>
          <a:xfrm>
            <a:off x="896112" y="2606040"/>
            <a:ext cx="429768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2" name="Google Shape;122;p6"/>
          <p:cNvSpPr txBox="1"/>
          <p:nvPr/>
        </p:nvSpPr>
        <p:spPr>
          <a:xfrm>
            <a:off x="137160" y="2889504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p6"/>
          <p:cNvCxnSpPr/>
          <p:nvPr/>
        </p:nvCxnSpPr>
        <p:spPr>
          <a:xfrm>
            <a:off x="896112" y="3017520"/>
            <a:ext cx="429768" cy="0"/>
          </a:xfrm>
          <a:prstGeom prst="straightConnector1">
            <a:avLst/>
          </a:prstGeom>
          <a:noFill/>
          <a:ln cap="rnd" cmpd="sng" w="25400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4" name="Google Shape;124;p6"/>
          <p:cNvSpPr txBox="1"/>
          <p:nvPr/>
        </p:nvSpPr>
        <p:spPr>
          <a:xfrm>
            <a:off x="11631168" y="2651760"/>
            <a:ext cx="365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11384280" y="3017520"/>
            <a:ext cx="502920" cy="0"/>
          </a:xfrm>
          <a:prstGeom prst="straightConnector1">
            <a:avLst/>
          </a:prstGeom>
          <a:noFill/>
          <a:ln cap="rnd" cmpd="sng" w="25400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6" name="Google Shape;126;p6"/>
          <p:cNvCxnSpPr/>
          <p:nvPr/>
        </p:nvCxnSpPr>
        <p:spPr>
          <a:xfrm>
            <a:off x="3886200" y="2606040"/>
            <a:ext cx="18288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7" name="Google Shape;127;p6"/>
          <p:cNvSpPr/>
          <p:nvPr/>
        </p:nvSpPr>
        <p:spPr>
          <a:xfrm>
            <a:off x="3300984" y="2496312"/>
            <a:ext cx="585216" cy="219456"/>
          </a:xfrm>
          <a:prstGeom prst="roundRect">
            <a:avLst>
              <a:gd fmla="val 50000" name="adj"/>
            </a:avLst>
          </a:prstGeom>
          <a:solidFill>
            <a:srgbClr val="E6E8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clk·rst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128;p6"/>
          <p:cNvCxnSpPr/>
          <p:nvPr/>
        </p:nvCxnSpPr>
        <p:spPr>
          <a:xfrm>
            <a:off x="6629400" y="2606040"/>
            <a:ext cx="18288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6"/>
          <p:cNvSpPr/>
          <p:nvPr/>
        </p:nvSpPr>
        <p:spPr>
          <a:xfrm>
            <a:off x="6044184" y="2496312"/>
            <a:ext cx="585216" cy="219456"/>
          </a:xfrm>
          <a:prstGeom prst="roundRect">
            <a:avLst>
              <a:gd fmla="val 50000" name="adj"/>
            </a:avLst>
          </a:prstGeom>
          <a:solidFill>
            <a:srgbClr val="E6E8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clk·rst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" name="Google Shape;130;p6"/>
          <p:cNvCxnSpPr/>
          <p:nvPr/>
        </p:nvCxnSpPr>
        <p:spPr>
          <a:xfrm>
            <a:off x="9372600" y="2606040"/>
            <a:ext cx="18288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1" name="Google Shape;131;p6"/>
          <p:cNvSpPr/>
          <p:nvPr/>
        </p:nvSpPr>
        <p:spPr>
          <a:xfrm>
            <a:off x="8787384" y="2496312"/>
            <a:ext cx="585216" cy="219456"/>
          </a:xfrm>
          <a:prstGeom prst="roundRect">
            <a:avLst>
              <a:gd fmla="val 50000" name="adj"/>
            </a:avLst>
          </a:prstGeom>
          <a:solidFill>
            <a:srgbClr val="E6E8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clk·rst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p6"/>
          <p:cNvCxnSpPr/>
          <p:nvPr/>
        </p:nvCxnSpPr>
        <p:spPr>
          <a:xfrm>
            <a:off x="3154680" y="3017520"/>
            <a:ext cx="91440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3" name="Google Shape;133;p6"/>
          <p:cNvCxnSpPr/>
          <p:nvPr/>
        </p:nvCxnSpPr>
        <p:spPr>
          <a:xfrm>
            <a:off x="3154680" y="3383280"/>
            <a:ext cx="914400" cy="0"/>
          </a:xfrm>
          <a:prstGeom prst="straightConnector1">
            <a:avLst/>
          </a:prstGeom>
          <a:noFill/>
          <a:ln cap="rnd" cmpd="sng" w="38100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4" name="Google Shape;134;p6"/>
          <p:cNvCxnSpPr/>
          <p:nvPr/>
        </p:nvCxnSpPr>
        <p:spPr>
          <a:xfrm>
            <a:off x="5897880" y="3017520"/>
            <a:ext cx="82296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" name="Google Shape;135;p6"/>
          <p:cNvSpPr/>
          <p:nvPr/>
        </p:nvSpPr>
        <p:spPr>
          <a:xfrm>
            <a:off x="6720840" y="2971800"/>
            <a:ext cx="91440" cy="9144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p6"/>
          <p:cNvCxnSpPr/>
          <p:nvPr/>
        </p:nvCxnSpPr>
        <p:spPr>
          <a:xfrm>
            <a:off x="5897880" y="3383280"/>
            <a:ext cx="914400" cy="0"/>
          </a:xfrm>
          <a:prstGeom prst="straightConnector1">
            <a:avLst/>
          </a:prstGeom>
          <a:noFill/>
          <a:ln cap="rnd" cmpd="sng" w="38100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7" name="Google Shape;137;p6"/>
          <p:cNvCxnSpPr/>
          <p:nvPr/>
        </p:nvCxnSpPr>
        <p:spPr>
          <a:xfrm rot="10800000">
            <a:off x="5989320" y="3749040"/>
            <a:ext cx="82296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" name="Google Shape;138;p6"/>
          <p:cNvSpPr/>
          <p:nvPr/>
        </p:nvSpPr>
        <p:spPr>
          <a:xfrm>
            <a:off x="5897880" y="3703320"/>
            <a:ext cx="91440" cy="9144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9" name="Google Shape;139;p6"/>
          <p:cNvCxnSpPr/>
          <p:nvPr/>
        </p:nvCxnSpPr>
        <p:spPr>
          <a:xfrm>
            <a:off x="8641080" y="3017520"/>
            <a:ext cx="82296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6"/>
          <p:cNvSpPr/>
          <p:nvPr/>
        </p:nvSpPr>
        <p:spPr>
          <a:xfrm>
            <a:off x="9464040" y="2971800"/>
            <a:ext cx="91440" cy="9144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6"/>
          <p:cNvCxnSpPr/>
          <p:nvPr/>
        </p:nvCxnSpPr>
        <p:spPr>
          <a:xfrm>
            <a:off x="8641080" y="3383280"/>
            <a:ext cx="914400" cy="0"/>
          </a:xfrm>
          <a:prstGeom prst="straightConnector1">
            <a:avLst/>
          </a:prstGeom>
          <a:noFill/>
          <a:ln cap="rnd" cmpd="sng" w="38100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p6"/>
          <p:cNvCxnSpPr/>
          <p:nvPr/>
        </p:nvCxnSpPr>
        <p:spPr>
          <a:xfrm rot="10800000">
            <a:off x="8732520" y="3749040"/>
            <a:ext cx="82296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6"/>
          <p:cNvSpPr/>
          <p:nvPr/>
        </p:nvSpPr>
        <p:spPr>
          <a:xfrm>
            <a:off x="8641080" y="3703320"/>
            <a:ext cx="91440" cy="9144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322024" y="4764025"/>
            <a:ext cx="2066100" cy="868800"/>
          </a:xfrm>
          <a:prstGeom prst="roundRect">
            <a:avLst>
              <a:gd fmla="val 6000" name="adj"/>
            </a:avLst>
          </a:prstGeom>
          <a:solidFill>
            <a:srgbClr val="EEF3FF"/>
          </a:solidFill>
          <a:ln cap="flat" cmpd="sng" w="12700">
            <a:solidFill>
              <a:srgbClr val="B8C9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322024" y="4764025"/>
            <a:ext cx="2066100" cy="3840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baud_tick_gen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5322024" y="5175505"/>
            <a:ext cx="2066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b_tick  (100 MHz ÷ (9600 ÷16) 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7" name="Google Shape;147;p6"/>
          <p:cNvCxnSpPr/>
          <p:nvPr/>
        </p:nvCxnSpPr>
        <p:spPr>
          <a:xfrm>
            <a:off x="5257800" y="5468112"/>
            <a:ext cx="18288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8" name="Google Shape;148;p6"/>
          <p:cNvSpPr/>
          <p:nvPr/>
        </p:nvSpPr>
        <p:spPr>
          <a:xfrm>
            <a:off x="4672584" y="5358384"/>
            <a:ext cx="585216" cy="219456"/>
          </a:xfrm>
          <a:prstGeom prst="roundRect">
            <a:avLst>
              <a:gd fmla="val 50000" name="adj"/>
            </a:avLst>
          </a:prstGeom>
          <a:solidFill>
            <a:srgbClr val="E6E8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clk·rst</a:t>
            </a:r>
            <a:endParaRPr b="0" i="0" sz="8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Google Shape;149;p6"/>
          <p:cNvCxnSpPr/>
          <p:nvPr/>
        </p:nvCxnSpPr>
        <p:spPr>
          <a:xfrm rot="10800000">
            <a:off x="6355080" y="4480560"/>
            <a:ext cx="0" cy="27432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6"/>
          <p:cNvSpPr/>
          <p:nvPr/>
        </p:nvSpPr>
        <p:spPr>
          <a:xfrm>
            <a:off x="6313932" y="4439412"/>
            <a:ext cx="82296" cy="82296"/>
          </a:xfrm>
          <a:prstGeom prst="ellipse">
            <a:avLst/>
          </a:prstGeom>
          <a:solidFill>
            <a:srgbClr val="4A4F5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6"/>
          <p:cNvCxnSpPr/>
          <p:nvPr/>
        </p:nvCxnSpPr>
        <p:spPr>
          <a:xfrm rot="10800000">
            <a:off x="1216152" y="4480560"/>
            <a:ext cx="5138928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6"/>
          <p:cNvCxnSpPr/>
          <p:nvPr/>
        </p:nvCxnSpPr>
        <p:spPr>
          <a:xfrm rot="10800000">
            <a:off x="1216152" y="3749040"/>
            <a:ext cx="0" cy="73152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6"/>
          <p:cNvCxnSpPr/>
          <p:nvPr/>
        </p:nvCxnSpPr>
        <p:spPr>
          <a:xfrm>
            <a:off x="1216152" y="3749040"/>
            <a:ext cx="109728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4" name="Google Shape;154;p6"/>
          <p:cNvCxnSpPr/>
          <p:nvPr/>
        </p:nvCxnSpPr>
        <p:spPr>
          <a:xfrm>
            <a:off x="6355080" y="4480560"/>
            <a:ext cx="297180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6"/>
          <p:cNvCxnSpPr/>
          <p:nvPr/>
        </p:nvCxnSpPr>
        <p:spPr>
          <a:xfrm rot="10800000">
            <a:off x="9326880" y="4041648"/>
            <a:ext cx="0" cy="438912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6"/>
          <p:cNvCxnSpPr/>
          <p:nvPr/>
        </p:nvCxnSpPr>
        <p:spPr>
          <a:xfrm>
            <a:off x="9326880" y="4041648"/>
            <a:ext cx="22860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57" name="Google Shape;157;p6"/>
          <p:cNvCxnSpPr/>
          <p:nvPr/>
        </p:nvCxnSpPr>
        <p:spPr>
          <a:xfrm>
            <a:off x="1143000" y="6053328"/>
            <a:ext cx="365760" cy="0"/>
          </a:xfrm>
          <a:prstGeom prst="straightConnector1">
            <a:avLst/>
          </a:prstGeom>
          <a:noFill/>
          <a:ln cap="rnd" cmpd="sng" w="3810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6"/>
          <p:cNvSpPr txBox="1"/>
          <p:nvPr/>
        </p:nvSpPr>
        <p:spPr>
          <a:xfrm>
            <a:off x="1572768" y="5934456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8bit 데이터 · 직렬 데이터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9" name="Google Shape;159;p6"/>
          <p:cNvCxnSpPr/>
          <p:nvPr/>
        </p:nvCxnSpPr>
        <p:spPr>
          <a:xfrm>
            <a:off x="3794760" y="6053328"/>
            <a:ext cx="365760" cy="0"/>
          </a:xfrm>
          <a:prstGeom prst="straightConnector1">
            <a:avLst/>
          </a:prstGeom>
          <a:noFill/>
          <a:ln cap="rnd" cmpd="sng" w="19050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6"/>
          <p:cNvSpPr txBox="1"/>
          <p:nvPr/>
        </p:nvSpPr>
        <p:spPr>
          <a:xfrm>
            <a:off x="4224528" y="5934456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제어 · 타이밍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623560" y="6007608"/>
            <a:ext cx="91440" cy="91440"/>
          </a:xfrm>
          <a:prstGeom prst="ellipse">
            <a:avLst/>
          </a:prstGeom>
          <a:solidFill>
            <a:srgbClr val="FFFFFF"/>
          </a:solidFill>
          <a:ln cap="flat" cmpd="sng" w="15875">
            <a:solidFill>
              <a:srgbClr val="4A4F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/>
        </p:nvSpPr>
        <p:spPr>
          <a:xfrm>
            <a:off x="5788152" y="5934456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반전(~) 입력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Related Technical</a:t>
            </a:r>
            <a:endParaRPr sz="3000"/>
          </a:p>
        </p:txBody>
      </p:sp>
      <p:sp>
        <p:nvSpPr>
          <p:cNvPr id="169" name="Google Shape;169;p8"/>
          <p:cNvSpPr/>
          <p:nvPr/>
        </p:nvSpPr>
        <p:spPr>
          <a:xfrm>
            <a:off x="256950" y="760650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 txBox="1"/>
          <p:nvPr>
            <p:ph type="title"/>
          </p:nvPr>
        </p:nvSpPr>
        <p:spPr>
          <a:xfrm>
            <a:off x="967894" y="1073975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UART</a:t>
            </a:r>
            <a:endParaRPr sz="3400"/>
          </a:p>
        </p:txBody>
      </p:sp>
      <p:cxnSp>
        <p:nvCxnSpPr>
          <p:cNvPr id="171" name="Google Shape;171;p8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2" name="Google Shape;172;p8"/>
          <p:cNvSpPr txBox="1"/>
          <p:nvPr/>
        </p:nvSpPr>
        <p:spPr>
          <a:xfrm>
            <a:off x="731520" y="1737360"/>
            <a:ext cx="11109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Universal Asynchronous Receiver / Transmitter</a:t>
            </a:r>
            <a:r>
              <a:rPr b="0" i="0" lang="en-US" sz="13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  —  병렬 ↔ 직렬 변환으로 데이터를 주고받는 비동기 직렬 통신 인터페이스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31520" y="2377440"/>
            <a:ext cx="1874520" cy="1051560"/>
          </a:xfrm>
          <a:prstGeom prst="roundRect">
            <a:avLst>
              <a:gd fmla="val 10000" name="adj"/>
            </a:avLst>
          </a:prstGeom>
          <a:solidFill>
            <a:srgbClr val="F3F4F7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731520" y="2450592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병렬 데이터 8bit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68680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1069848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271016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472184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673352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1874520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075688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2276856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183;p8"/>
          <p:cNvCxnSpPr/>
          <p:nvPr/>
        </p:nvCxnSpPr>
        <p:spPr>
          <a:xfrm>
            <a:off x="2651760" y="2903220"/>
            <a:ext cx="411480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4" name="Google Shape;184;p8"/>
          <p:cNvSpPr/>
          <p:nvPr/>
        </p:nvSpPr>
        <p:spPr>
          <a:xfrm>
            <a:off x="3108960" y="2377440"/>
            <a:ext cx="1554480" cy="1051560"/>
          </a:xfrm>
          <a:prstGeom prst="roundRect">
            <a:avLst>
              <a:gd fmla="val 12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PISO · 병렬→직렬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8"/>
          <p:cNvCxnSpPr/>
          <p:nvPr/>
        </p:nvCxnSpPr>
        <p:spPr>
          <a:xfrm>
            <a:off x="4663440" y="2903220"/>
            <a:ext cx="3017520" cy="0"/>
          </a:xfrm>
          <a:prstGeom prst="straightConnector1">
            <a:avLst/>
          </a:prstGeom>
          <a:noFill/>
          <a:ln cap="rnd" cmpd="sng" w="25400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6" name="Google Shape;186;p8"/>
          <p:cNvSpPr/>
          <p:nvPr/>
        </p:nvSpPr>
        <p:spPr>
          <a:xfrm>
            <a:off x="4937760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239512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5541264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5843016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144768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6446520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6748272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050024" y="2519172"/>
            <a:ext cx="256032" cy="274320"/>
          </a:xfrm>
          <a:prstGeom prst="roundRect">
            <a:avLst>
              <a:gd fmla="val 20000" name="adj"/>
            </a:avLst>
          </a:prstGeom>
          <a:solidFill>
            <a:srgbClr val="DCE6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8"/>
          <p:cNvSpPr txBox="1"/>
          <p:nvPr/>
        </p:nvSpPr>
        <p:spPr>
          <a:xfrm>
            <a:off x="4663440" y="2976372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선 1가닥으로 1bit씩 (LSB부터)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7726680" y="2377440"/>
            <a:ext cx="1554480" cy="1051560"/>
          </a:xfrm>
          <a:prstGeom prst="roundRect">
            <a:avLst>
              <a:gd fmla="val 12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SIPO · 직렬→병렬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8"/>
          <p:cNvCxnSpPr/>
          <p:nvPr/>
        </p:nvCxnSpPr>
        <p:spPr>
          <a:xfrm>
            <a:off x="9326880" y="2903220"/>
            <a:ext cx="411480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7" name="Google Shape;197;p8"/>
          <p:cNvSpPr/>
          <p:nvPr/>
        </p:nvSpPr>
        <p:spPr>
          <a:xfrm>
            <a:off x="9784080" y="2377440"/>
            <a:ext cx="1874520" cy="1051560"/>
          </a:xfrm>
          <a:prstGeom prst="roundRect">
            <a:avLst>
              <a:gd fmla="val 10000" name="adj"/>
            </a:avLst>
          </a:prstGeom>
          <a:solidFill>
            <a:srgbClr val="F3F4F7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8"/>
          <p:cNvSpPr txBox="1"/>
          <p:nvPr/>
        </p:nvSpPr>
        <p:spPr>
          <a:xfrm>
            <a:off x="9784080" y="2450592"/>
            <a:ext cx="1874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병렬 데이터 8bit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9921240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10122408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323576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10524744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0725912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10927080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11128248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11329416" y="2880360"/>
            <a:ext cx="182880" cy="38404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9D6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7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731520" y="3794760"/>
            <a:ext cx="5417820" cy="2514600"/>
          </a:xfrm>
          <a:prstGeom prst="roundRect">
            <a:avLst>
              <a:gd fmla="val 6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 txBox="1"/>
          <p:nvPr/>
        </p:nvSpPr>
        <p:spPr>
          <a:xfrm>
            <a:off x="960120" y="3931920"/>
            <a:ext cx="49606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직렬 통신 (Serial)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60120" y="4480560"/>
            <a:ext cx="384048" cy="1600200"/>
          </a:xfrm>
          <a:prstGeom prst="roundRect">
            <a:avLst>
              <a:gd fmla="val 2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176272" y="4480560"/>
            <a:ext cx="384048" cy="1600200"/>
          </a:xfrm>
          <a:prstGeom prst="roundRect">
            <a:avLst>
              <a:gd fmla="val 20000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1" name="Google Shape;211;p8"/>
          <p:cNvCxnSpPr/>
          <p:nvPr/>
        </p:nvCxnSpPr>
        <p:spPr>
          <a:xfrm>
            <a:off x="1344168" y="5280660"/>
            <a:ext cx="832104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2" name="Google Shape;212;p8"/>
          <p:cNvSpPr/>
          <p:nvPr/>
        </p:nvSpPr>
        <p:spPr>
          <a:xfrm>
            <a:off x="960120" y="6080760"/>
            <a:ext cx="1600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 txBox="1"/>
          <p:nvPr/>
        </p:nvSpPr>
        <p:spPr>
          <a:xfrm>
            <a:off x="1344168" y="4462272"/>
            <a:ext cx="832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선 1개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 txBox="1"/>
          <p:nvPr/>
        </p:nvSpPr>
        <p:spPr>
          <a:xfrm>
            <a:off x="2788920" y="4453128"/>
            <a:ext cx="31775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한 선으로 1bit씩 차례로 전송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배선·핀 수가 적어 구조 단순, 비용 낮음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선 간 도착 시간 차이가 없어 장거리에 유리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같은 클럭에서는 상대적으로 느림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423660" y="3794760"/>
            <a:ext cx="5417820" cy="2514600"/>
          </a:xfrm>
          <a:prstGeom prst="roundRect">
            <a:avLst>
              <a:gd fmla="val 6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 txBox="1"/>
          <p:nvPr/>
        </p:nvSpPr>
        <p:spPr>
          <a:xfrm>
            <a:off x="6652260" y="3931920"/>
            <a:ext cx="49606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병렬 통신 (Parallel)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652260" y="4480560"/>
            <a:ext cx="384048" cy="1600200"/>
          </a:xfrm>
          <a:prstGeom prst="roundRect">
            <a:avLst>
              <a:gd fmla="val 20000" name="adj"/>
            </a:avLst>
          </a:prstGeom>
          <a:solidFill>
            <a:srgbClr val="D9D2E9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7868412" y="4480560"/>
            <a:ext cx="384048" cy="1600200"/>
          </a:xfrm>
          <a:prstGeom prst="roundRect">
            <a:avLst>
              <a:gd fmla="val 20000" name="adj"/>
            </a:avLst>
          </a:prstGeom>
          <a:solidFill>
            <a:srgbClr val="EAD1D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8"/>
          <p:cNvCxnSpPr/>
          <p:nvPr/>
        </p:nvCxnSpPr>
        <p:spPr>
          <a:xfrm>
            <a:off x="7036308" y="4663440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8"/>
          <p:cNvCxnSpPr/>
          <p:nvPr/>
        </p:nvCxnSpPr>
        <p:spPr>
          <a:xfrm>
            <a:off x="7036308" y="4839789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8"/>
          <p:cNvCxnSpPr/>
          <p:nvPr/>
        </p:nvCxnSpPr>
        <p:spPr>
          <a:xfrm>
            <a:off x="7036308" y="5016137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8"/>
          <p:cNvCxnSpPr/>
          <p:nvPr/>
        </p:nvCxnSpPr>
        <p:spPr>
          <a:xfrm>
            <a:off x="7036308" y="5192486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8"/>
          <p:cNvCxnSpPr/>
          <p:nvPr/>
        </p:nvCxnSpPr>
        <p:spPr>
          <a:xfrm>
            <a:off x="7036308" y="5368834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8"/>
          <p:cNvCxnSpPr/>
          <p:nvPr/>
        </p:nvCxnSpPr>
        <p:spPr>
          <a:xfrm>
            <a:off x="7036308" y="5545183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8"/>
          <p:cNvCxnSpPr/>
          <p:nvPr/>
        </p:nvCxnSpPr>
        <p:spPr>
          <a:xfrm>
            <a:off x="7036308" y="5721531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8"/>
          <p:cNvCxnSpPr/>
          <p:nvPr/>
        </p:nvCxnSpPr>
        <p:spPr>
          <a:xfrm>
            <a:off x="7036308" y="5897880"/>
            <a:ext cx="832104" cy="0"/>
          </a:xfrm>
          <a:prstGeom prst="straightConnector1">
            <a:avLst/>
          </a:prstGeom>
          <a:noFill/>
          <a:ln cap="rnd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8"/>
          <p:cNvSpPr/>
          <p:nvPr/>
        </p:nvSpPr>
        <p:spPr>
          <a:xfrm>
            <a:off x="6652260" y="6080760"/>
            <a:ext cx="16002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7036308" y="4462272"/>
            <a:ext cx="83210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선 n개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8481060" y="4453128"/>
            <a:ext cx="31775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n개의 선으로 nbit 동시 전송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같은 클럭에서 n배 빠름 (단거리)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거리 증가 시 선마다 도착 시간 차이(skew)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50"/>
              <a:buFont typeface="Arial"/>
              <a:buChar char="•"/>
            </a:pP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선 간 간섭(crosstalk)·노이즈, 배선 비용 증가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Related Technical</a:t>
            </a:r>
            <a:endParaRPr sz="3000"/>
          </a:p>
        </p:txBody>
      </p:sp>
      <p:sp>
        <p:nvSpPr>
          <p:cNvPr id="236" name="Google Shape;236;p9"/>
          <p:cNvSpPr/>
          <p:nvPr/>
        </p:nvSpPr>
        <p:spPr>
          <a:xfrm>
            <a:off x="256950" y="760650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 txBox="1"/>
          <p:nvPr>
            <p:ph type="title"/>
          </p:nvPr>
        </p:nvSpPr>
        <p:spPr>
          <a:xfrm>
            <a:off x="967894" y="1073975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RX · TX 연결과 특징</a:t>
            </a:r>
            <a:endParaRPr sz="3400"/>
          </a:p>
        </p:txBody>
      </p:sp>
      <p:cxnSp>
        <p:nvCxnSpPr>
          <p:cNvPr id="238" name="Google Shape;238;p9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9"/>
          <p:cNvSpPr txBox="1"/>
          <p:nvPr/>
        </p:nvSpPr>
        <p:spPr>
          <a:xfrm>
            <a:off x="777240" y="175564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PC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3611880" y="1755648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FPGA (Basys 3)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77240" y="2148840"/>
            <a:ext cx="1600200" cy="3291840"/>
          </a:xfrm>
          <a:prstGeom prst="roundRect">
            <a:avLst>
              <a:gd fmla="val 12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3611880" y="2148840"/>
            <a:ext cx="1600200" cy="3291840"/>
          </a:xfrm>
          <a:prstGeom prst="roundRect">
            <a:avLst>
              <a:gd fmla="val 12000" name="adj"/>
            </a:avLst>
          </a:prstGeom>
          <a:solidFill>
            <a:srgbClr val="FFF2C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9"/>
          <p:cNvSpPr txBox="1"/>
          <p:nvPr/>
        </p:nvSpPr>
        <p:spPr>
          <a:xfrm>
            <a:off x="777240" y="49377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USB-UART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 txBox="1"/>
          <p:nvPr/>
        </p:nvSpPr>
        <p:spPr>
          <a:xfrm>
            <a:off x="3611880" y="4937760"/>
            <a:ext cx="1600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uart_rx / uart_tx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 txBox="1"/>
          <p:nvPr/>
        </p:nvSpPr>
        <p:spPr>
          <a:xfrm>
            <a:off x="1508760" y="2633472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"/>
          <p:cNvSpPr txBox="1"/>
          <p:nvPr/>
        </p:nvSpPr>
        <p:spPr>
          <a:xfrm>
            <a:off x="1508760" y="3364992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 txBox="1"/>
          <p:nvPr/>
        </p:nvSpPr>
        <p:spPr>
          <a:xfrm>
            <a:off x="1508760" y="4279392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GND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 txBox="1"/>
          <p:nvPr/>
        </p:nvSpPr>
        <p:spPr>
          <a:xfrm>
            <a:off x="3749040" y="2633472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9"/>
          <p:cNvSpPr txBox="1"/>
          <p:nvPr/>
        </p:nvSpPr>
        <p:spPr>
          <a:xfrm>
            <a:off x="3749040" y="3364992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RX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 txBox="1"/>
          <p:nvPr/>
        </p:nvSpPr>
        <p:spPr>
          <a:xfrm>
            <a:off x="3749040" y="4279392"/>
            <a:ext cx="7315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GND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2395728" y="2834640"/>
            <a:ext cx="1197864" cy="731520"/>
          </a:xfrm>
          <a:prstGeom prst="straightConnector1">
            <a:avLst/>
          </a:prstGeom>
          <a:noFill/>
          <a:ln cap="rnd" cmpd="sng" w="25400">
            <a:solidFill>
              <a:srgbClr val="C9D6F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2" name="Google Shape;252;p9"/>
          <p:cNvCxnSpPr/>
          <p:nvPr/>
        </p:nvCxnSpPr>
        <p:spPr>
          <a:xfrm flipH="1">
            <a:off x="2395728" y="2834640"/>
            <a:ext cx="1197864" cy="731520"/>
          </a:xfrm>
          <a:prstGeom prst="straightConnector1">
            <a:avLst/>
          </a:prstGeom>
          <a:noFill/>
          <a:ln cap="rnd" cmpd="sng" w="25400">
            <a:solidFill>
              <a:srgbClr val="FFD966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53" name="Google Shape;253;p9"/>
          <p:cNvCxnSpPr/>
          <p:nvPr/>
        </p:nvCxnSpPr>
        <p:spPr>
          <a:xfrm>
            <a:off x="2395728" y="4480560"/>
            <a:ext cx="1197864" cy="0"/>
          </a:xfrm>
          <a:prstGeom prst="straightConnector1">
            <a:avLst/>
          </a:prstGeom>
          <a:noFill/>
          <a:ln cap="rnd" cmpd="sng" w="25400">
            <a:solidFill>
              <a:srgbClr val="5F647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9"/>
          <p:cNvSpPr txBox="1"/>
          <p:nvPr/>
        </p:nvSpPr>
        <p:spPr>
          <a:xfrm>
            <a:off x="777240" y="5550408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TX는 상대 RX로 교차 연결,  GND는 공통 연결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PC → FPGA (파랑)   ·   FPGA → PC (주황)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5806440" y="1783080"/>
            <a:ext cx="6035040" cy="1069848"/>
          </a:xfrm>
          <a:prstGeom prst="roundRect">
            <a:avLst>
              <a:gd fmla="val 1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007608" y="2107692"/>
            <a:ext cx="420624" cy="42062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6611112" y="1874520"/>
            <a:ext cx="507492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송신 TX · 수신 RX 분리 → Full-duplex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송신선과 수신선이 따로 있어, 보내는 </a:t>
            </a:r>
            <a:r>
              <a:rPr b="1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동시</a:t>
            </a:r>
            <a:r>
              <a:rPr b="0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에 받을 수 있음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5806440" y="2944368"/>
            <a:ext cx="6035040" cy="1069848"/>
          </a:xfrm>
          <a:prstGeom prst="roundRect">
            <a:avLst>
              <a:gd fmla="val 1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6007608" y="3268980"/>
            <a:ext cx="420624" cy="42062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6611112" y="3035808"/>
            <a:ext cx="507492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비동기 방식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보레이트(baud time)만 미리 약속하고 </a:t>
            </a:r>
            <a:r>
              <a:rPr b="1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각자 자기 타이머</a:t>
            </a:r>
            <a:r>
              <a:rPr b="0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로 비트 시간을 잼. 매 프레임 스타트 비트로 타이밍을 다시 맞춤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5806440" y="4105656"/>
            <a:ext cx="6035040" cy="1069848"/>
          </a:xfrm>
          <a:prstGeom prst="roundRect">
            <a:avLst>
              <a:gd fmla="val 1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6007608" y="4430268"/>
            <a:ext cx="420624" cy="42062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9"/>
          <p:cNvSpPr txBox="1"/>
          <p:nvPr/>
        </p:nvSpPr>
        <p:spPr>
          <a:xfrm>
            <a:off x="6611112" y="4197096"/>
            <a:ext cx="507492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GND 공통 연결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전압은 기준점과의 차이 → 두 장치의 0V 기준을 맞추고 전류가 돌아갈 귀환 경로를 제공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5806440" y="5266944"/>
            <a:ext cx="6035040" cy="1069848"/>
          </a:xfrm>
          <a:prstGeom prst="roundRect">
            <a:avLst>
              <a:gd fmla="val 1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6007608" y="5591556"/>
            <a:ext cx="420624" cy="42062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9"/>
          <p:cNvSpPr txBox="1"/>
          <p:nvPr/>
        </p:nvSpPr>
        <p:spPr>
          <a:xfrm>
            <a:off x="6611112" y="5358384"/>
            <a:ext cx="5074920" cy="886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 = PISO,  RX = SIPO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송신: 병렬 8bit를 한 번에 받아 1bit씩 출력 / 수신: 1bit씩 모아 8bit 병렬로 출력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Related Technical</a:t>
            </a:r>
            <a:endParaRPr sz="3000"/>
          </a:p>
        </p:txBody>
      </p:sp>
      <p:sp>
        <p:nvSpPr>
          <p:cNvPr id="273" name="Google Shape;273;p10"/>
          <p:cNvSpPr/>
          <p:nvPr/>
        </p:nvSpPr>
        <p:spPr>
          <a:xfrm>
            <a:off x="256950" y="760650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>
            <p:ph type="title"/>
          </p:nvPr>
        </p:nvSpPr>
        <p:spPr>
          <a:xfrm>
            <a:off x="967894" y="1073975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UART 데이터 프레임</a:t>
            </a:r>
            <a:endParaRPr sz="3400"/>
          </a:p>
        </p:txBody>
      </p:sp>
      <p:cxnSp>
        <p:nvCxnSpPr>
          <p:cNvPr id="275" name="Google Shape;275;p10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6" name="Google Shape;276;p10"/>
          <p:cNvSpPr/>
          <p:nvPr/>
        </p:nvSpPr>
        <p:spPr>
          <a:xfrm>
            <a:off x="97840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Idle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78408" y="2240280"/>
            <a:ext cx="832104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96012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84708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1847088" y="2240280"/>
            <a:ext cx="832104" cy="82296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 txBox="1"/>
          <p:nvPr/>
        </p:nvSpPr>
        <p:spPr>
          <a:xfrm>
            <a:off x="182880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71576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271576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0"/>
          <p:cNvSpPr txBox="1"/>
          <p:nvPr/>
        </p:nvSpPr>
        <p:spPr>
          <a:xfrm>
            <a:off x="269748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358444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58444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 txBox="1"/>
          <p:nvPr/>
        </p:nvSpPr>
        <p:spPr>
          <a:xfrm>
            <a:off x="356616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445312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45312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 txBox="1"/>
          <p:nvPr/>
        </p:nvSpPr>
        <p:spPr>
          <a:xfrm>
            <a:off x="443484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32180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532180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 txBox="1"/>
          <p:nvPr/>
        </p:nvSpPr>
        <p:spPr>
          <a:xfrm>
            <a:off x="530352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19048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D4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619048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 txBox="1"/>
          <p:nvPr/>
        </p:nvSpPr>
        <p:spPr>
          <a:xfrm>
            <a:off x="617220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705916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D5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705916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0"/>
          <p:cNvSpPr txBox="1"/>
          <p:nvPr/>
        </p:nvSpPr>
        <p:spPr>
          <a:xfrm>
            <a:off x="704088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92784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D6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792784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0"/>
          <p:cNvSpPr txBox="1"/>
          <p:nvPr/>
        </p:nvSpPr>
        <p:spPr>
          <a:xfrm>
            <a:off x="790956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79652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D7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8796528" y="2240280"/>
            <a:ext cx="832104" cy="822960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 txBox="1"/>
          <p:nvPr/>
        </p:nvSpPr>
        <p:spPr>
          <a:xfrm>
            <a:off x="877824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966520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9665208" y="2240280"/>
            <a:ext cx="832104" cy="82296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 txBox="1"/>
          <p:nvPr/>
        </p:nvSpPr>
        <p:spPr>
          <a:xfrm>
            <a:off x="964692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10533888" y="1783080"/>
            <a:ext cx="832104" cy="329184"/>
          </a:xfrm>
          <a:prstGeom prst="roundRect">
            <a:avLst>
              <a:gd fmla="val 20000" name="adj"/>
            </a:avLst>
          </a:prstGeom>
          <a:solidFill>
            <a:srgbClr val="D9D9D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Idle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0533888" y="2240280"/>
            <a:ext cx="832104" cy="82296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 txBox="1"/>
          <p:nvPr/>
        </p:nvSpPr>
        <p:spPr>
          <a:xfrm>
            <a:off x="10515600" y="306324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2" name="Google Shape;312;p10"/>
          <p:cNvCxnSpPr/>
          <p:nvPr/>
        </p:nvCxnSpPr>
        <p:spPr>
          <a:xfrm>
            <a:off x="960120" y="233172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0"/>
          <p:cNvCxnSpPr/>
          <p:nvPr/>
        </p:nvCxnSpPr>
        <p:spPr>
          <a:xfrm>
            <a:off x="1828800" y="297180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0"/>
          <p:cNvCxnSpPr/>
          <p:nvPr/>
        </p:nvCxnSpPr>
        <p:spPr>
          <a:xfrm>
            <a:off x="1828800" y="233172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0"/>
          <p:cNvCxnSpPr/>
          <p:nvPr/>
        </p:nvCxnSpPr>
        <p:spPr>
          <a:xfrm>
            <a:off x="2697480" y="233172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0"/>
          <p:cNvCxnSpPr/>
          <p:nvPr/>
        </p:nvCxnSpPr>
        <p:spPr>
          <a:xfrm>
            <a:off x="2697480" y="233172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10"/>
          <p:cNvCxnSpPr/>
          <p:nvPr/>
        </p:nvCxnSpPr>
        <p:spPr>
          <a:xfrm>
            <a:off x="3566160" y="297180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10"/>
          <p:cNvCxnSpPr/>
          <p:nvPr/>
        </p:nvCxnSpPr>
        <p:spPr>
          <a:xfrm>
            <a:off x="3566160" y="233172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10"/>
          <p:cNvCxnSpPr/>
          <p:nvPr/>
        </p:nvCxnSpPr>
        <p:spPr>
          <a:xfrm>
            <a:off x="4434840" y="297180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0"/>
          <p:cNvCxnSpPr/>
          <p:nvPr/>
        </p:nvCxnSpPr>
        <p:spPr>
          <a:xfrm>
            <a:off x="5303520" y="297180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0"/>
          <p:cNvCxnSpPr/>
          <p:nvPr/>
        </p:nvCxnSpPr>
        <p:spPr>
          <a:xfrm>
            <a:off x="6172200" y="297180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0"/>
          <p:cNvCxnSpPr/>
          <p:nvPr/>
        </p:nvCxnSpPr>
        <p:spPr>
          <a:xfrm>
            <a:off x="7040880" y="297180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0"/>
          <p:cNvCxnSpPr/>
          <p:nvPr/>
        </p:nvCxnSpPr>
        <p:spPr>
          <a:xfrm>
            <a:off x="7909560" y="233172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0"/>
          <p:cNvCxnSpPr/>
          <p:nvPr/>
        </p:nvCxnSpPr>
        <p:spPr>
          <a:xfrm>
            <a:off x="7909560" y="233172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0"/>
          <p:cNvCxnSpPr/>
          <p:nvPr/>
        </p:nvCxnSpPr>
        <p:spPr>
          <a:xfrm>
            <a:off x="8778240" y="297180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0"/>
          <p:cNvCxnSpPr/>
          <p:nvPr/>
        </p:nvCxnSpPr>
        <p:spPr>
          <a:xfrm>
            <a:off x="8778240" y="233172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0"/>
          <p:cNvCxnSpPr/>
          <p:nvPr/>
        </p:nvCxnSpPr>
        <p:spPr>
          <a:xfrm>
            <a:off x="9646920" y="233172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0"/>
          <p:cNvCxnSpPr/>
          <p:nvPr/>
        </p:nvCxnSpPr>
        <p:spPr>
          <a:xfrm>
            <a:off x="9646920" y="233172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0"/>
          <p:cNvCxnSpPr/>
          <p:nvPr/>
        </p:nvCxnSpPr>
        <p:spPr>
          <a:xfrm>
            <a:off x="10515600" y="2331720"/>
            <a:ext cx="86868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0"/>
          <p:cNvCxnSpPr/>
          <p:nvPr/>
        </p:nvCxnSpPr>
        <p:spPr>
          <a:xfrm>
            <a:off x="2743200" y="3456432"/>
            <a:ext cx="6858000" cy="0"/>
          </a:xfrm>
          <a:prstGeom prst="straightConnector1">
            <a:avLst/>
          </a:prstGeom>
          <a:noFill/>
          <a:ln cap="rnd" cmpd="sng" w="12700">
            <a:solidFill>
              <a:srgbClr val="5F647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1" name="Google Shape;331;p10"/>
          <p:cNvSpPr txBox="1"/>
          <p:nvPr/>
        </p:nvSpPr>
        <p:spPr>
          <a:xfrm>
            <a:off x="2697480" y="3493008"/>
            <a:ext cx="6949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Data 8bit - LSB(D0)부터 전송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>
            <a:off x="1874520" y="3867912"/>
            <a:ext cx="8595360" cy="0"/>
          </a:xfrm>
          <a:prstGeom prst="straightConnector1">
            <a:avLst/>
          </a:prstGeom>
          <a:noFill/>
          <a:ln cap="rnd" cmpd="sng" w="12700">
            <a:solidFill>
              <a:srgbClr val="3A70F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33" name="Google Shape;333;p10"/>
          <p:cNvSpPr txBox="1"/>
          <p:nvPr/>
        </p:nvSpPr>
        <p:spPr>
          <a:xfrm>
            <a:off x="1828800" y="3904488"/>
            <a:ext cx="8686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 Frame = 10bit  (start 1 + data 8 + Stop 1)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731520" y="4297680"/>
            <a:ext cx="3520440" cy="205740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932688" y="4480560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 txBox="1"/>
          <p:nvPr/>
        </p:nvSpPr>
        <p:spPr>
          <a:xfrm>
            <a:off x="1371600" y="445312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프레임 구성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932688" y="4937760"/>
            <a:ext cx="311810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Idle </a:t>
            </a: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HIGH(1) — 대기 상태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Start </a:t>
            </a: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1→0 </a:t>
            </a:r>
            <a:endParaRPr b="0" i="0" sz="12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5~9bit, 보통 8bit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Parity </a:t>
            </a: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&lt;선택&gt; 1의 개수로 오류 검출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Stop </a:t>
            </a: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526280" y="4297680"/>
            <a:ext cx="3520440" cy="205740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4727448" y="4480560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5166360" y="445312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LSB First 전송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4727448" y="4937760"/>
            <a:ext cx="311810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[7:0]data =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0100 0001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전송 순서 :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1 0 0 0 0 0 1 0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하위 비트(D0)부터 차례로 송신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수신 측은 오른쪽 시프트하며 원래 순서로 복원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8321040" y="4297680"/>
            <a:ext cx="3520440" cy="205740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8522208" y="4480560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8961120" y="445312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Baud Rate · Baud Time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 txBox="1"/>
          <p:nvPr/>
        </p:nvSpPr>
        <p:spPr>
          <a:xfrm>
            <a:off x="8522208" y="4937760"/>
            <a:ext cx="311810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Baud rate : 초당 비트 수 (9600 bps)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Baud time = 1 / 9600 ≈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104.16 µs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 Frame ≈ 1.04 ms → 최대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960 Byte/s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송·수신 설정이 다르면 데이터 깨짐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664250" y="2487213"/>
            <a:ext cx="329100" cy="329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 rot="10800000">
            <a:off x="9491525" y="2487200"/>
            <a:ext cx="329100" cy="329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Related Technical</a:t>
            </a:r>
            <a:endParaRPr sz="3000"/>
          </a:p>
        </p:txBody>
      </p:sp>
      <p:sp>
        <p:nvSpPr>
          <p:cNvPr id="354" name="Google Shape;354;p12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2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Baud Rate 생성과 16배 오버샘플링</a:t>
            </a:r>
            <a:endParaRPr sz="3400"/>
          </a:p>
        </p:txBody>
      </p:sp>
      <p:cxnSp>
        <p:nvCxnSpPr>
          <p:cNvPr id="356" name="Google Shape;356;p12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12"/>
          <p:cNvSpPr/>
          <p:nvPr/>
        </p:nvSpPr>
        <p:spPr>
          <a:xfrm>
            <a:off x="2331720" y="2039112"/>
            <a:ext cx="3072384" cy="859536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5404104" y="2039112"/>
            <a:ext cx="3072384" cy="859536"/>
          </a:xfrm>
          <a:prstGeom prst="rect">
            <a:avLst/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2"/>
          <p:cNvSpPr txBox="1"/>
          <p:nvPr/>
        </p:nvSpPr>
        <p:spPr>
          <a:xfrm>
            <a:off x="1143000" y="17556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Idle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2331720" y="1755648"/>
            <a:ext cx="3072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Start bit (1 bit = 16 tick)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5404104" y="1755648"/>
            <a:ext cx="30723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D0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8476488" y="1755648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D1 …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3" name="Google Shape;363;p12"/>
          <p:cNvCxnSpPr/>
          <p:nvPr/>
        </p:nvCxnSpPr>
        <p:spPr>
          <a:xfrm>
            <a:off x="1143000" y="2148840"/>
            <a:ext cx="118872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4" name="Google Shape;364;p12"/>
          <p:cNvCxnSpPr/>
          <p:nvPr/>
        </p:nvCxnSpPr>
        <p:spPr>
          <a:xfrm>
            <a:off x="2331720" y="214884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5" name="Google Shape;365;p12"/>
          <p:cNvCxnSpPr/>
          <p:nvPr/>
        </p:nvCxnSpPr>
        <p:spPr>
          <a:xfrm>
            <a:off x="2331720" y="2788920"/>
            <a:ext cx="3072384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12"/>
          <p:cNvCxnSpPr/>
          <p:nvPr/>
        </p:nvCxnSpPr>
        <p:spPr>
          <a:xfrm rot="10800000">
            <a:off x="5404104" y="214884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7" name="Google Shape;367;p12"/>
          <p:cNvCxnSpPr/>
          <p:nvPr/>
        </p:nvCxnSpPr>
        <p:spPr>
          <a:xfrm>
            <a:off x="5404104" y="2148840"/>
            <a:ext cx="3072384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12"/>
          <p:cNvCxnSpPr/>
          <p:nvPr/>
        </p:nvCxnSpPr>
        <p:spPr>
          <a:xfrm>
            <a:off x="8476488" y="2148840"/>
            <a:ext cx="0" cy="64008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9" name="Google Shape;369;p12"/>
          <p:cNvCxnSpPr/>
          <p:nvPr/>
        </p:nvCxnSpPr>
        <p:spPr>
          <a:xfrm>
            <a:off x="8476488" y="2788920"/>
            <a:ext cx="1188720" cy="0"/>
          </a:xfrm>
          <a:prstGeom prst="straightConnector1">
            <a:avLst/>
          </a:prstGeom>
          <a:noFill/>
          <a:ln cap="rnd" cmpd="sng" w="28575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12"/>
          <p:cNvSpPr txBox="1"/>
          <p:nvPr/>
        </p:nvSpPr>
        <p:spPr>
          <a:xfrm>
            <a:off x="365760" y="2926080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b_tick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3794760" y="2715768"/>
            <a:ext cx="146304" cy="146304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2" name="Google Shape;372;p12"/>
          <p:cNvGrpSpPr/>
          <p:nvPr/>
        </p:nvGrpSpPr>
        <p:grpSpPr>
          <a:xfrm>
            <a:off x="1143000" y="1965960"/>
            <a:ext cx="8522100" cy="1225164"/>
            <a:chOff x="1143000" y="1965960"/>
            <a:chExt cx="8522100" cy="1225164"/>
          </a:xfrm>
        </p:grpSpPr>
        <p:cxnSp>
          <p:nvCxnSpPr>
            <p:cNvPr id="373" name="Google Shape;373;p12"/>
            <p:cNvCxnSpPr/>
            <p:nvPr/>
          </p:nvCxnSpPr>
          <p:spPr>
            <a:xfrm>
              <a:off x="1143000" y="3063240"/>
              <a:ext cx="8522100" cy="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12"/>
            <p:cNvCxnSpPr/>
            <p:nvPr/>
          </p:nvCxnSpPr>
          <p:spPr>
            <a:xfrm>
              <a:off x="2331720" y="2935224"/>
              <a:ext cx="0" cy="255900"/>
            </a:xfrm>
            <a:prstGeom prst="straightConnector1">
              <a:avLst/>
            </a:prstGeom>
            <a:noFill/>
            <a:ln cap="rnd" cmpd="sng" w="15875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12"/>
            <p:cNvCxnSpPr/>
            <p:nvPr/>
          </p:nvCxnSpPr>
          <p:spPr>
            <a:xfrm>
              <a:off x="252374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12"/>
            <p:cNvCxnSpPr/>
            <p:nvPr/>
          </p:nvCxnSpPr>
          <p:spPr>
            <a:xfrm>
              <a:off x="271576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12"/>
            <p:cNvCxnSpPr/>
            <p:nvPr/>
          </p:nvCxnSpPr>
          <p:spPr>
            <a:xfrm>
              <a:off x="290779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12"/>
            <p:cNvCxnSpPr/>
            <p:nvPr/>
          </p:nvCxnSpPr>
          <p:spPr>
            <a:xfrm>
              <a:off x="309981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12"/>
            <p:cNvCxnSpPr/>
            <p:nvPr/>
          </p:nvCxnSpPr>
          <p:spPr>
            <a:xfrm>
              <a:off x="329184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12"/>
            <p:cNvCxnSpPr/>
            <p:nvPr/>
          </p:nvCxnSpPr>
          <p:spPr>
            <a:xfrm>
              <a:off x="348386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12"/>
            <p:cNvCxnSpPr/>
            <p:nvPr/>
          </p:nvCxnSpPr>
          <p:spPr>
            <a:xfrm>
              <a:off x="367588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12"/>
            <p:cNvCxnSpPr/>
            <p:nvPr/>
          </p:nvCxnSpPr>
          <p:spPr>
            <a:xfrm>
              <a:off x="386791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12"/>
            <p:cNvCxnSpPr/>
            <p:nvPr/>
          </p:nvCxnSpPr>
          <p:spPr>
            <a:xfrm>
              <a:off x="405993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4" name="Google Shape;384;p12"/>
            <p:cNvCxnSpPr/>
            <p:nvPr/>
          </p:nvCxnSpPr>
          <p:spPr>
            <a:xfrm>
              <a:off x="425196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5" name="Google Shape;385;p12"/>
            <p:cNvCxnSpPr/>
            <p:nvPr/>
          </p:nvCxnSpPr>
          <p:spPr>
            <a:xfrm>
              <a:off x="444398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6" name="Google Shape;386;p12"/>
            <p:cNvCxnSpPr/>
            <p:nvPr/>
          </p:nvCxnSpPr>
          <p:spPr>
            <a:xfrm>
              <a:off x="463600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7" name="Google Shape;387;p12"/>
            <p:cNvCxnSpPr/>
            <p:nvPr/>
          </p:nvCxnSpPr>
          <p:spPr>
            <a:xfrm>
              <a:off x="482803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8" name="Google Shape;388;p12"/>
            <p:cNvCxnSpPr/>
            <p:nvPr/>
          </p:nvCxnSpPr>
          <p:spPr>
            <a:xfrm>
              <a:off x="502005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9" name="Google Shape;389;p12"/>
            <p:cNvCxnSpPr/>
            <p:nvPr/>
          </p:nvCxnSpPr>
          <p:spPr>
            <a:xfrm>
              <a:off x="521208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0" name="Google Shape;390;p12"/>
            <p:cNvCxnSpPr/>
            <p:nvPr/>
          </p:nvCxnSpPr>
          <p:spPr>
            <a:xfrm>
              <a:off x="5404104" y="2935224"/>
              <a:ext cx="0" cy="255900"/>
            </a:xfrm>
            <a:prstGeom prst="straightConnector1">
              <a:avLst/>
            </a:prstGeom>
            <a:noFill/>
            <a:ln cap="rnd" cmpd="sng" w="15875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1" name="Google Shape;391;p12"/>
            <p:cNvCxnSpPr/>
            <p:nvPr/>
          </p:nvCxnSpPr>
          <p:spPr>
            <a:xfrm>
              <a:off x="559612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12"/>
            <p:cNvCxnSpPr/>
            <p:nvPr/>
          </p:nvCxnSpPr>
          <p:spPr>
            <a:xfrm>
              <a:off x="578815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3" name="Google Shape;393;p12"/>
            <p:cNvCxnSpPr/>
            <p:nvPr/>
          </p:nvCxnSpPr>
          <p:spPr>
            <a:xfrm>
              <a:off x="598017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4" name="Google Shape;394;p12"/>
            <p:cNvCxnSpPr/>
            <p:nvPr/>
          </p:nvCxnSpPr>
          <p:spPr>
            <a:xfrm>
              <a:off x="617220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5" name="Google Shape;395;p12"/>
            <p:cNvCxnSpPr/>
            <p:nvPr/>
          </p:nvCxnSpPr>
          <p:spPr>
            <a:xfrm>
              <a:off x="636422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6" name="Google Shape;396;p12"/>
            <p:cNvCxnSpPr/>
            <p:nvPr/>
          </p:nvCxnSpPr>
          <p:spPr>
            <a:xfrm>
              <a:off x="655624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12"/>
            <p:cNvCxnSpPr/>
            <p:nvPr/>
          </p:nvCxnSpPr>
          <p:spPr>
            <a:xfrm>
              <a:off x="674827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8" name="Google Shape;398;p12"/>
            <p:cNvCxnSpPr/>
            <p:nvPr/>
          </p:nvCxnSpPr>
          <p:spPr>
            <a:xfrm>
              <a:off x="694029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9" name="Google Shape;399;p12"/>
            <p:cNvCxnSpPr/>
            <p:nvPr/>
          </p:nvCxnSpPr>
          <p:spPr>
            <a:xfrm>
              <a:off x="713232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0" name="Google Shape;400;p12"/>
            <p:cNvCxnSpPr/>
            <p:nvPr/>
          </p:nvCxnSpPr>
          <p:spPr>
            <a:xfrm>
              <a:off x="732434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1" name="Google Shape;401;p12"/>
            <p:cNvCxnSpPr/>
            <p:nvPr/>
          </p:nvCxnSpPr>
          <p:spPr>
            <a:xfrm>
              <a:off x="751636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12"/>
            <p:cNvCxnSpPr/>
            <p:nvPr/>
          </p:nvCxnSpPr>
          <p:spPr>
            <a:xfrm>
              <a:off x="770839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3" name="Google Shape;403;p12"/>
            <p:cNvCxnSpPr/>
            <p:nvPr/>
          </p:nvCxnSpPr>
          <p:spPr>
            <a:xfrm>
              <a:off x="790041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4" name="Google Shape;404;p12"/>
            <p:cNvCxnSpPr/>
            <p:nvPr/>
          </p:nvCxnSpPr>
          <p:spPr>
            <a:xfrm>
              <a:off x="809244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5" name="Google Shape;405;p12"/>
            <p:cNvCxnSpPr/>
            <p:nvPr/>
          </p:nvCxnSpPr>
          <p:spPr>
            <a:xfrm>
              <a:off x="828446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6" name="Google Shape;406;p12"/>
            <p:cNvCxnSpPr/>
            <p:nvPr/>
          </p:nvCxnSpPr>
          <p:spPr>
            <a:xfrm>
              <a:off x="8476488" y="2935224"/>
              <a:ext cx="0" cy="255900"/>
            </a:xfrm>
            <a:prstGeom prst="straightConnector1">
              <a:avLst/>
            </a:prstGeom>
            <a:noFill/>
            <a:ln cap="rnd" cmpd="sng" w="15875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12"/>
            <p:cNvCxnSpPr/>
            <p:nvPr/>
          </p:nvCxnSpPr>
          <p:spPr>
            <a:xfrm>
              <a:off x="866851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8" name="Google Shape;408;p12"/>
            <p:cNvCxnSpPr/>
            <p:nvPr/>
          </p:nvCxnSpPr>
          <p:spPr>
            <a:xfrm>
              <a:off x="886053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9" name="Google Shape;409;p12"/>
            <p:cNvCxnSpPr/>
            <p:nvPr/>
          </p:nvCxnSpPr>
          <p:spPr>
            <a:xfrm>
              <a:off x="905256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0" name="Google Shape;410;p12"/>
            <p:cNvCxnSpPr/>
            <p:nvPr/>
          </p:nvCxnSpPr>
          <p:spPr>
            <a:xfrm>
              <a:off x="924458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1" name="Google Shape;411;p12"/>
            <p:cNvCxnSpPr/>
            <p:nvPr/>
          </p:nvCxnSpPr>
          <p:spPr>
            <a:xfrm>
              <a:off x="943660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12"/>
            <p:cNvCxnSpPr/>
            <p:nvPr/>
          </p:nvCxnSpPr>
          <p:spPr>
            <a:xfrm>
              <a:off x="962863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3" name="Google Shape;413;p12"/>
            <p:cNvCxnSpPr/>
            <p:nvPr/>
          </p:nvCxnSpPr>
          <p:spPr>
            <a:xfrm>
              <a:off x="213969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4" name="Google Shape;414;p12"/>
            <p:cNvCxnSpPr/>
            <p:nvPr/>
          </p:nvCxnSpPr>
          <p:spPr>
            <a:xfrm>
              <a:off x="1947672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5" name="Google Shape;415;p12"/>
            <p:cNvCxnSpPr/>
            <p:nvPr/>
          </p:nvCxnSpPr>
          <p:spPr>
            <a:xfrm>
              <a:off x="1755648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6" name="Google Shape;416;p12"/>
            <p:cNvCxnSpPr/>
            <p:nvPr/>
          </p:nvCxnSpPr>
          <p:spPr>
            <a:xfrm>
              <a:off x="1563624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12"/>
            <p:cNvCxnSpPr/>
            <p:nvPr/>
          </p:nvCxnSpPr>
          <p:spPr>
            <a:xfrm>
              <a:off x="1371600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8" name="Google Shape;418;p12"/>
            <p:cNvCxnSpPr/>
            <p:nvPr/>
          </p:nvCxnSpPr>
          <p:spPr>
            <a:xfrm>
              <a:off x="1179576" y="2990088"/>
              <a:ext cx="0" cy="146400"/>
            </a:xfrm>
            <a:prstGeom prst="straightConnector1">
              <a:avLst/>
            </a:prstGeom>
            <a:noFill/>
            <a:ln cap="rnd" cmpd="sng" w="12700">
              <a:solidFill>
                <a:srgbClr val="5F647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9" name="Google Shape;419;p12"/>
            <p:cNvCxnSpPr/>
            <p:nvPr/>
          </p:nvCxnSpPr>
          <p:spPr>
            <a:xfrm>
              <a:off x="3867912" y="1965960"/>
              <a:ext cx="0" cy="1097400"/>
            </a:xfrm>
            <a:prstGeom prst="straightConnector1">
              <a:avLst/>
            </a:prstGeom>
            <a:noFill/>
            <a:ln cap="rnd" cmpd="sng" w="15875">
              <a:solidFill>
                <a:srgbClr val="E8590C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420" name="Google Shape;420;p12"/>
            <p:cNvCxnSpPr/>
            <p:nvPr/>
          </p:nvCxnSpPr>
          <p:spPr>
            <a:xfrm>
              <a:off x="6940296" y="1965960"/>
              <a:ext cx="0" cy="1097400"/>
            </a:xfrm>
            <a:prstGeom prst="straightConnector1">
              <a:avLst/>
            </a:prstGeom>
            <a:noFill/>
            <a:ln cap="rnd" cmpd="sng" w="15875">
              <a:solidFill>
                <a:srgbClr val="E8590C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sp>
        <p:nvSpPr>
          <p:cNvPr id="421" name="Google Shape;421;p12"/>
          <p:cNvSpPr/>
          <p:nvPr/>
        </p:nvSpPr>
        <p:spPr>
          <a:xfrm>
            <a:off x="6867144" y="2075688"/>
            <a:ext cx="146304" cy="146304"/>
          </a:xfrm>
          <a:prstGeom prst="ellipse">
            <a:avLst/>
          </a:prstGeom>
          <a:solidFill>
            <a:srgbClr val="E8590C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2"/>
          <p:cNvSpPr txBox="1"/>
          <p:nvPr/>
        </p:nvSpPr>
        <p:spPr>
          <a:xfrm>
            <a:off x="502920" y="3310128"/>
            <a:ext cx="1783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①  1 -&gt; 0</a:t>
            </a:r>
            <a:endParaRPr b="1" i="0" sz="11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IDLE → START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2770632" y="331012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②  8 tick 후 Start 중앙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여전히 0이면 진짜 시작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5843016" y="3310128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③  이후 16 tick마다 샘플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항상 비트의 </a:t>
            </a: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중앙</a:t>
            </a: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에서 읽음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12"/>
          <p:cNvCxnSpPr/>
          <p:nvPr/>
        </p:nvCxnSpPr>
        <p:spPr>
          <a:xfrm>
            <a:off x="2331720" y="3227832"/>
            <a:ext cx="1536192" cy="0"/>
          </a:xfrm>
          <a:prstGeom prst="straightConnector1">
            <a:avLst/>
          </a:prstGeom>
          <a:noFill/>
          <a:ln cap="rnd" cmpd="sng" w="12700">
            <a:solidFill>
              <a:srgbClr val="E8590C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26" name="Google Shape;426;p12"/>
          <p:cNvSpPr/>
          <p:nvPr/>
        </p:nvSpPr>
        <p:spPr>
          <a:xfrm>
            <a:off x="731520" y="4069080"/>
            <a:ext cx="3520440" cy="228600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2"/>
          <p:cNvSpPr/>
          <p:nvPr/>
        </p:nvSpPr>
        <p:spPr>
          <a:xfrm>
            <a:off x="932688" y="4251960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 txBox="1"/>
          <p:nvPr/>
        </p:nvSpPr>
        <p:spPr>
          <a:xfrm>
            <a:off x="1371600" y="422452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왜 오버샘플링인가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932688" y="4709160"/>
            <a:ext cx="31181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클럭 선이 없어 수신 측은 비트 경계를 직접 알 수 없음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1bit를 여러 구간으로 쪼개 하강 엣지 위치를 정밀하게 찾음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경계가 아닌 비트 중앙에서 읽어 클럭 오차·노이즈에 여유 확보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4526280" y="4069080"/>
            <a:ext cx="3520440" cy="228600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4727448" y="4251960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5166360" y="422452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Baud Tick 생성 (100 MHz)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4727448" y="4709160"/>
            <a:ext cx="31181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F_COUNT = 100,000,000 / (9600 × 16)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Baud tick 16번 마다 1클럭 폭 b_tick 펄스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8321040" y="4069080"/>
            <a:ext cx="3520440" cy="228600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8522208" y="4251960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 txBox="1"/>
          <p:nvPr/>
        </p:nvSpPr>
        <p:spPr>
          <a:xfrm>
            <a:off x="8961120" y="422452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8배 vs 16배</a:t>
            </a:r>
            <a:endParaRPr b="0" i="0" sz="1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 txBox="1"/>
          <p:nvPr/>
        </p:nvSpPr>
        <p:spPr>
          <a:xfrm>
            <a:off x="8522208" y="4709160"/>
            <a:ext cx="3118104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8x  </a:t>
            </a: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1/8 bit 정밀도, 중앙까지 4 tick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카운터가 작고 고속 보레이트에 유리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16x  </a:t>
            </a: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1/16 bit 정밀도, 중앙까지 8 tick</a:t>
            </a:r>
            <a:endParaRPr b="0" i="0" sz="1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오차 여유가 커 가장 널리 쓰임 → 본 설계 적용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3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Related Technical</a:t>
            </a:r>
            <a:endParaRPr sz="3000"/>
          </a:p>
        </p:txBody>
      </p:sp>
      <p:sp>
        <p:nvSpPr>
          <p:cNvPr id="443" name="Google Shape;443;p13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3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FIFO (First In, First Out)</a:t>
            </a:r>
            <a:endParaRPr sz="3400"/>
          </a:p>
        </p:txBody>
      </p:sp>
      <p:cxnSp>
        <p:nvCxnSpPr>
          <p:cNvPr id="445" name="Google Shape;445;p13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13"/>
          <p:cNvSpPr txBox="1"/>
          <p:nvPr/>
        </p:nvSpPr>
        <p:spPr>
          <a:xfrm>
            <a:off x="731520" y="1755648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먼저 들어온 데이터가 먼저 나가는 버퍼</a:t>
            </a:r>
            <a:r>
              <a:rPr b="0" i="0" lang="en-US" sz="12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  —  쓰는 쪽과 읽는 쪽의 속도/타이밍이 다를때 데이터를 보관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1234440" y="2834640"/>
            <a:ext cx="960120" cy="777240"/>
          </a:xfrm>
          <a:prstGeom prst="roundRect">
            <a:avLst>
              <a:gd fmla="val 12000" name="adj"/>
            </a:avLst>
          </a:prstGeom>
          <a:solidFill>
            <a:srgbClr val="F3F4F7"/>
          </a:solidFill>
          <a:ln cap="flat" cmpd="sng" w="12700">
            <a:solidFill>
              <a:srgbClr val="D6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mem[0]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2304288" y="2834640"/>
            <a:ext cx="960120" cy="777240"/>
          </a:xfrm>
          <a:prstGeom prst="roundRect">
            <a:avLst>
              <a:gd fmla="val 12000" name="adj"/>
            </a:avLst>
          </a:prstGeom>
          <a:solidFill>
            <a:srgbClr val="DCE6FF"/>
          </a:solidFill>
          <a:ln cap="flat" cmpd="sng" w="12700">
            <a:solidFill>
              <a:srgbClr val="D6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mem[1]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3374136" y="2834640"/>
            <a:ext cx="960120" cy="777240"/>
          </a:xfrm>
          <a:prstGeom prst="roundRect">
            <a:avLst>
              <a:gd fmla="val 12000" name="adj"/>
            </a:avLst>
          </a:prstGeom>
          <a:solidFill>
            <a:srgbClr val="DCE6FF"/>
          </a:solidFill>
          <a:ln cap="flat" cmpd="sng" w="12700">
            <a:solidFill>
              <a:srgbClr val="D6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mem[2]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4443984" y="2834640"/>
            <a:ext cx="960120" cy="777240"/>
          </a:xfrm>
          <a:prstGeom prst="roundRect">
            <a:avLst>
              <a:gd fmla="val 12000" name="adj"/>
            </a:avLst>
          </a:prstGeom>
          <a:solidFill>
            <a:srgbClr val="F3F4F7"/>
          </a:solidFill>
          <a:ln cap="flat" cmpd="sng" w="12700">
            <a:solidFill>
              <a:srgbClr val="D6E2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18275" spcFirstLastPara="1" rIns="18275" wrap="square" tIns="1827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mem[3]</a:t>
            </a:r>
            <a:endParaRPr b="0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2052828" y="23042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rptr  (pop)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13"/>
          <p:cNvCxnSpPr/>
          <p:nvPr/>
        </p:nvCxnSpPr>
        <p:spPr>
          <a:xfrm>
            <a:off x="2784348" y="2578608"/>
            <a:ext cx="0" cy="228600"/>
          </a:xfrm>
          <a:prstGeom prst="straightConnector1">
            <a:avLst/>
          </a:prstGeom>
          <a:noFill/>
          <a:ln cap="rnd" cmpd="sng" w="22225">
            <a:solidFill>
              <a:srgbClr val="E8590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53" name="Google Shape;453;p13"/>
          <p:cNvSpPr txBox="1"/>
          <p:nvPr/>
        </p:nvSpPr>
        <p:spPr>
          <a:xfrm>
            <a:off x="4192524" y="2304288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wptr  (push)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p13"/>
          <p:cNvCxnSpPr/>
          <p:nvPr/>
        </p:nvCxnSpPr>
        <p:spPr>
          <a:xfrm>
            <a:off x="4924044" y="2578608"/>
            <a:ext cx="0" cy="228600"/>
          </a:xfrm>
          <a:prstGeom prst="straightConnector1">
            <a:avLst/>
          </a:prstGeom>
          <a:noFill/>
          <a:ln cap="rnd" cmpd="sng" w="22225">
            <a:solidFill>
              <a:srgbClr val="3A70FC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55" name="Google Shape;455;p13"/>
          <p:cNvCxnSpPr/>
          <p:nvPr/>
        </p:nvCxnSpPr>
        <p:spPr>
          <a:xfrm>
            <a:off x="5404104" y="3223260"/>
            <a:ext cx="228600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6" name="Google Shape;456;p13"/>
          <p:cNvCxnSpPr/>
          <p:nvPr/>
        </p:nvCxnSpPr>
        <p:spPr>
          <a:xfrm>
            <a:off x="5632704" y="3223260"/>
            <a:ext cx="0" cy="635508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7" name="Google Shape;457;p13"/>
          <p:cNvCxnSpPr/>
          <p:nvPr/>
        </p:nvCxnSpPr>
        <p:spPr>
          <a:xfrm rot="10800000">
            <a:off x="1005840" y="3858768"/>
            <a:ext cx="4626864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8" name="Google Shape;458;p13"/>
          <p:cNvCxnSpPr/>
          <p:nvPr/>
        </p:nvCxnSpPr>
        <p:spPr>
          <a:xfrm rot="10800000">
            <a:off x="1005840" y="3223260"/>
            <a:ext cx="0" cy="635508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9" name="Google Shape;459;p13"/>
          <p:cNvCxnSpPr/>
          <p:nvPr/>
        </p:nvCxnSpPr>
        <p:spPr>
          <a:xfrm>
            <a:off x="1005840" y="3223260"/>
            <a:ext cx="210312" cy="0"/>
          </a:xfrm>
          <a:prstGeom prst="straightConnector1">
            <a:avLst/>
          </a:prstGeom>
          <a:noFill/>
          <a:ln cap="rnd" cmpd="sng" w="15875">
            <a:solidFill>
              <a:srgbClr val="5F647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0" name="Google Shape;460;p13"/>
          <p:cNvSpPr txBox="1"/>
          <p:nvPr/>
        </p:nvSpPr>
        <p:spPr>
          <a:xfrm>
            <a:off x="1234440" y="3895344"/>
            <a:ext cx="416966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마지막 칸 다음은 0번 칸 (원형 버퍼) · 데이터 대신 포인터만 이동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6400800" y="228600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이 설계의 FIFO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6400800" y="2651760"/>
            <a:ext cx="53949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register_file : 깊이 4 × 8bit 메모리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control_unit : 2bit 포인터 wptr · rptr, full · empty 플래그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쓰기는 클럭 동기 (we = ~full &amp; push)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읽기는 조합 출력 (pop_data = mem[rptr])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3"/>
          <p:cNvSpPr/>
          <p:nvPr/>
        </p:nvSpPr>
        <p:spPr>
          <a:xfrm>
            <a:off x="731520" y="4315968"/>
            <a:ext cx="3520440" cy="201168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/>
          <p:nvPr/>
        </p:nvSpPr>
        <p:spPr>
          <a:xfrm>
            <a:off x="932688" y="4498848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1371600" y="447141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push (쓰기)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932688" y="4956048"/>
            <a:ext cx="31181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wptr 칸에 push_data 저장 후 wptr + 1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full이면 쓰기를 막아 덮어쓰기 없음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3"/>
          <p:cNvSpPr/>
          <p:nvPr/>
        </p:nvSpPr>
        <p:spPr>
          <a:xfrm>
            <a:off x="4526280" y="4315968"/>
            <a:ext cx="3520440" cy="201168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3"/>
          <p:cNvSpPr/>
          <p:nvPr/>
        </p:nvSpPr>
        <p:spPr>
          <a:xfrm>
            <a:off x="4727448" y="4498848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3"/>
          <p:cNvSpPr txBox="1"/>
          <p:nvPr/>
        </p:nvSpPr>
        <p:spPr>
          <a:xfrm>
            <a:off x="5166360" y="447141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 (읽기)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3"/>
          <p:cNvSpPr txBox="1"/>
          <p:nvPr/>
        </p:nvSpPr>
        <p:spPr>
          <a:xfrm>
            <a:off x="4727448" y="4956048"/>
            <a:ext cx="31181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pop_data는 항상 rptr 칸을 출력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 시 rptr + 1, empty면 무시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3"/>
          <p:cNvSpPr/>
          <p:nvPr/>
        </p:nvSpPr>
        <p:spPr>
          <a:xfrm>
            <a:off x="8321040" y="4315968"/>
            <a:ext cx="3520440" cy="2011680"/>
          </a:xfrm>
          <a:prstGeom prst="roundRect">
            <a:avLst>
              <a:gd fmla="val 7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54850" lIns="54850" spcFirstLastPara="1" rIns="54850" wrap="square" tIns="54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3"/>
          <p:cNvSpPr/>
          <p:nvPr/>
        </p:nvSpPr>
        <p:spPr>
          <a:xfrm>
            <a:off x="8522208" y="4498848"/>
            <a:ext cx="329184" cy="329184"/>
          </a:xfrm>
          <a:prstGeom prst="ellipse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3"/>
          <p:cNvSpPr txBox="1"/>
          <p:nvPr/>
        </p:nvSpPr>
        <p:spPr>
          <a:xfrm>
            <a:off x="8961120" y="4471416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full · empty 판정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3"/>
          <p:cNvSpPr txBox="1"/>
          <p:nvPr/>
        </p:nvSpPr>
        <p:spPr>
          <a:xfrm>
            <a:off x="8522208" y="4956048"/>
            <a:ext cx="3118104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push 후 wptr + 1 == rptr → full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pop 후 rptr + 1 == wptr → empty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포인터가 같을 때 두 상태를 플래그로 구분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h7ba9a5772fd67660_0_6"/>
          <p:cNvSpPr txBox="1"/>
          <p:nvPr/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Related Technical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h7ba9a5772fd67660_0_6"/>
          <p:cNvSpPr/>
          <p:nvPr/>
        </p:nvSpPr>
        <p:spPr>
          <a:xfrm>
            <a:off x="256950" y="814000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h7ba9a5772fd67660_0_6"/>
          <p:cNvSpPr txBox="1"/>
          <p:nvPr/>
        </p:nvSpPr>
        <p:spPr>
          <a:xfrm>
            <a:off x="893620" y="988475"/>
            <a:ext cx="3657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RX  FSM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h7ba9a5772fd67660_0_6"/>
          <p:cNvCxnSpPr/>
          <p:nvPr/>
        </p:nvCxnSpPr>
        <p:spPr>
          <a:xfrm>
            <a:off x="685800" y="2788920"/>
            <a:ext cx="1005900" cy="0"/>
          </a:xfrm>
          <a:prstGeom prst="straightConnector1">
            <a:avLst/>
          </a:prstGeom>
          <a:noFill/>
          <a:ln cap="flat" cmpd="sng" w="22225">
            <a:solidFill>
              <a:srgbClr val="E8590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3" name="Google Shape;483;h7ba9a5772fd67660_0_6"/>
          <p:cNvSpPr txBox="1"/>
          <p:nvPr/>
        </p:nvSpPr>
        <p:spPr>
          <a:xfrm>
            <a:off x="685800" y="2514600"/>
            <a:ext cx="914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h7ba9a5772fd67660_0_6"/>
          <p:cNvCxnSpPr/>
          <p:nvPr/>
        </p:nvCxnSpPr>
        <p:spPr>
          <a:xfrm>
            <a:off x="2971800" y="2788920"/>
            <a:ext cx="2377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5" name="Google Shape;485;h7ba9a5772fd67660_0_6"/>
          <p:cNvSpPr txBox="1"/>
          <p:nvPr/>
        </p:nvSpPr>
        <p:spPr>
          <a:xfrm>
            <a:off x="2935224" y="2313432"/>
            <a:ext cx="2450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 &amp; rx ==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start bit 감지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h7ba9a5772fd67660_0_6"/>
          <p:cNvCxnSpPr/>
          <p:nvPr/>
        </p:nvCxnSpPr>
        <p:spPr>
          <a:xfrm>
            <a:off x="5989320" y="3429000"/>
            <a:ext cx="0" cy="12345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7" name="Google Shape;487;h7ba9a5772fd67660_0_6"/>
          <p:cNvSpPr txBox="1"/>
          <p:nvPr/>
        </p:nvSpPr>
        <p:spPr>
          <a:xfrm>
            <a:off x="6117336" y="3648456"/>
            <a:ext cx="17832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 &amp; cnt ==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cnt←0, bit_cnt←0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data←8'h00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h7ba9a5772fd67660_0_6"/>
          <p:cNvCxnSpPr/>
          <p:nvPr/>
        </p:nvCxnSpPr>
        <p:spPr>
          <a:xfrm rot="10800000">
            <a:off x="2971740" y="5303520"/>
            <a:ext cx="2377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9" name="Google Shape;489;h7ba9a5772fd67660_0_6"/>
          <p:cNvSpPr txBox="1"/>
          <p:nvPr/>
        </p:nvSpPr>
        <p:spPr>
          <a:xfrm>
            <a:off x="2935224" y="4828031"/>
            <a:ext cx="2450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 &amp; cnt ==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&amp; bit_cnt ==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h7ba9a5772fd67660_0_6"/>
          <p:cNvSpPr txBox="1"/>
          <p:nvPr/>
        </p:nvSpPr>
        <p:spPr>
          <a:xfrm>
            <a:off x="2935224" y="5376672"/>
            <a:ext cx="245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data ← {rx, data[7:1]}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h7ba9a5772fd67660_0_6"/>
          <p:cNvCxnSpPr/>
          <p:nvPr/>
        </p:nvCxnSpPr>
        <p:spPr>
          <a:xfrm rot="10800000">
            <a:off x="2331720" y="3428940"/>
            <a:ext cx="0" cy="12345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2" name="Google Shape;492;h7ba9a5772fd67660_0_6"/>
          <p:cNvSpPr txBox="1"/>
          <p:nvPr/>
        </p:nvSpPr>
        <p:spPr>
          <a:xfrm>
            <a:off x="2459736" y="3648456"/>
            <a:ext cx="1737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 &amp; cnt ==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rx_done ←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h7ba9a5772fd67660_0_6"/>
          <p:cNvSpPr/>
          <p:nvPr/>
        </p:nvSpPr>
        <p:spPr>
          <a:xfrm>
            <a:off x="1728215" y="2185415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h7ba9a5772fd67660_0_6"/>
          <p:cNvSpPr/>
          <p:nvPr/>
        </p:nvSpPr>
        <p:spPr>
          <a:xfrm>
            <a:off x="5385816" y="2185415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h7ba9a5772fd67660_0_6"/>
          <p:cNvSpPr/>
          <p:nvPr/>
        </p:nvSpPr>
        <p:spPr>
          <a:xfrm>
            <a:off x="5385816" y="4700016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h7ba9a5772fd67660_0_6"/>
          <p:cNvSpPr/>
          <p:nvPr/>
        </p:nvSpPr>
        <p:spPr>
          <a:xfrm>
            <a:off x="1728215" y="4700016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h7ba9a5772fd67660_0_6"/>
          <p:cNvSpPr/>
          <p:nvPr/>
        </p:nvSpPr>
        <p:spPr>
          <a:xfrm>
            <a:off x="2084831" y="1773936"/>
            <a:ext cx="493800" cy="493800"/>
          </a:xfrm>
          <a:prstGeom prst="arc">
            <a:avLst>
              <a:gd fmla="val 13089134" name="adj1"/>
              <a:gd fmla="val 4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h7ba9a5772fd67660_0_6"/>
          <p:cNvSpPr txBox="1"/>
          <p:nvPr/>
        </p:nvSpPr>
        <p:spPr>
          <a:xfrm>
            <a:off x="2697479" y="1618487"/>
            <a:ext cx="2194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else</a:t>
            </a: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  (rx=1 / no tick)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cnt←0, rx_done←0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h7ba9a5772fd67660_0_6"/>
          <p:cNvSpPr/>
          <p:nvPr/>
        </p:nvSpPr>
        <p:spPr>
          <a:xfrm>
            <a:off x="5742431" y="1773936"/>
            <a:ext cx="493800" cy="493800"/>
          </a:xfrm>
          <a:prstGeom prst="arc">
            <a:avLst>
              <a:gd fmla="val 13089134" name="adj1"/>
              <a:gd fmla="val 4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h7ba9a5772fd67660_0_6"/>
          <p:cNvSpPr txBox="1"/>
          <p:nvPr/>
        </p:nvSpPr>
        <p:spPr>
          <a:xfrm>
            <a:off x="6355080" y="1618487"/>
            <a:ext cx="1828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b_tick &amp; cnt &lt;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h7ba9a5772fd67660_0_6"/>
          <p:cNvSpPr/>
          <p:nvPr/>
        </p:nvSpPr>
        <p:spPr>
          <a:xfrm>
            <a:off x="5742431" y="5824727"/>
            <a:ext cx="493800" cy="493800"/>
          </a:xfrm>
          <a:prstGeom prst="arc">
            <a:avLst>
              <a:gd fmla="val 31089134" name="adj1"/>
              <a:gd fmla="val 22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h7ba9a5772fd67660_0_6"/>
          <p:cNvSpPr txBox="1"/>
          <p:nvPr/>
        </p:nvSpPr>
        <p:spPr>
          <a:xfrm>
            <a:off x="6355080" y="5998464"/>
            <a:ext cx="201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cnt &lt; 15</a:t>
            </a: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 : cnt++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cnt == 15 &amp; bit_cnt &lt;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shift, bit_cnt++, cnt←0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h7ba9a5772fd67660_0_6"/>
          <p:cNvSpPr/>
          <p:nvPr/>
        </p:nvSpPr>
        <p:spPr>
          <a:xfrm>
            <a:off x="2084831" y="5824727"/>
            <a:ext cx="493800" cy="493800"/>
          </a:xfrm>
          <a:prstGeom prst="arc">
            <a:avLst>
              <a:gd fmla="val 31089134" name="adj1"/>
              <a:gd fmla="val 22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h7ba9a5772fd67660_0_6"/>
          <p:cNvSpPr txBox="1"/>
          <p:nvPr/>
        </p:nvSpPr>
        <p:spPr>
          <a:xfrm>
            <a:off x="2697479" y="6071616"/>
            <a:ext cx="1828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b_tick &amp; cnt &lt;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h7ba9a5772fd67660_0_6"/>
          <p:cNvSpPr txBox="1"/>
          <p:nvPr/>
        </p:nvSpPr>
        <p:spPr>
          <a:xfrm>
            <a:off x="8275320" y="1024128"/>
            <a:ext cx="3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상태별 동작</a:t>
            </a: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   b_tick = 16× baud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h7ba9a5772fd67660_0_6"/>
          <p:cNvSpPr/>
          <p:nvPr/>
        </p:nvSpPr>
        <p:spPr>
          <a:xfrm>
            <a:off x="8275320" y="1389888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h7ba9a5772fd67660_0_6"/>
          <p:cNvSpPr/>
          <p:nvPr/>
        </p:nvSpPr>
        <p:spPr>
          <a:xfrm>
            <a:off x="8421624" y="1536192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h7ba9a5772fd67660_0_6"/>
          <p:cNvSpPr txBox="1"/>
          <p:nvPr/>
        </p:nvSpPr>
        <p:spPr>
          <a:xfrm>
            <a:off x="9244584" y="1536192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대기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h7ba9a5772fd67660_0_6"/>
          <p:cNvSpPr txBox="1"/>
          <p:nvPr/>
        </p:nvSpPr>
        <p:spPr>
          <a:xfrm>
            <a:off x="8439912" y="1883664"/>
            <a:ext cx="309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5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b_tick 시점에 rx = 0 (start bit) 감지 시 START로 이동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h7ba9a5772fd67660_0_6"/>
          <p:cNvSpPr/>
          <p:nvPr/>
        </p:nvSpPr>
        <p:spPr>
          <a:xfrm>
            <a:off x="8275320" y="2560320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h7ba9a5772fd67660_0_6"/>
          <p:cNvSpPr/>
          <p:nvPr/>
        </p:nvSpPr>
        <p:spPr>
          <a:xfrm>
            <a:off x="8421624" y="2706624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h7ba9a5772fd67660_0_6"/>
          <p:cNvSpPr txBox="1"/>
          <p:nvPr/>
        </p:nvSpPr>
        <p:spPr>
          <a:xfrm>
            <a:off x="9244584" y="2706624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start bit 중앙 정렬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h7ba9a5772fd67660_0_6"/>
          <p:cNvSpPr txBox="1"/>
          <p:nvPr/>
        </p:nvSpPr>
        <p:spPr>
          <a:xfrm>
            <a:off x="8439912" y="3054096"/>
            <a:ext cx="309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5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8 tick(½ bit) 카운트 → 비트 중앙에서 샘플링하도록 위상 맞춤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h7ba9a5772fd67660_0_6"/>
          <p:cNvSpPr/>
          <p:nvPr/>
        </p:nvSpPr>
        <p:spPr>
          <a:xfrm>
            <a:off x="8275320" y="3730752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h7ba9a5772fd67660_0_6"/>
          <p:cNvSpPr/>
          <p:nvPr/>
        </p:nvSpPr>
        <p:spPr>
          <a:xfrm>
            <a:off x="8421624" y="3877056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h7ba9a5772fd67660_0_6"/>
          <p:cNvSpPr txBox="1"/>
          <p:nvPr/>
        </p:nvSpPr>
        <p:spPr>
          <a:xfrm>
            <a:off x="9244584" y="3877056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8bit 수신 (LSB first)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h7ba9a5772fd67660_0_6"/>
          <p:cNvSpPr txBox="1"/>
          <p:nvPr/>
        </p:nvSpPr>
        <p:spPr>
          <a:xfrm>
            <a:off x="8439900" y="4224525"/>
            <a:ext cx="33051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3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16 tick마다 rx 샘플링 후 오른쪽 시프트, bit_cnt = 7이면 STOP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h7ba9a5772fd67660_0_6"/>
          <p:cNvSpPr/>
          <p:nvPr/>
        </p:nvSpPr>
        <p:spPr>
          <a:xfrm>
            <a:off x="8275320" y="4901183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h7ba9a5772fd67660_0_6"/>
          <p:cNvSpPr/>
          <p:nvPr/>
        </p:nvSpPr>
        <p:spPr>
          <a:xfrm>
            <a:off x="8421624" y="5047488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h7ba9a5772fd67660_0_6"/>
          <p:cNvSpPr txBox="1"/>
          <p:nvPr/>
        </p:nvSpPr>
        <p:spPr>
          <a:xfrm>
            <a:off x="9244584" y="5047488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stop bit 대기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h7ba9a5772fd67660_0_6"/>
          <p:cNvSpPr txBox="1"/>
          <p:nvPr/>
        </p:nvSpPr>
        <p:spPr>
          <a:xfrm>
            <a:off x="8439912" y="5394959"/>
            <a:ext cx="3099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5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16 tick 후 rx_done = 1 ,rx =high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h7ba9a5772fd67660_0_6"/>
          <p:cNvSpPr txBox="1"/>
          <p:nvPr/>
        </p:nvSpPr>
        <p:spPr>
          <a:xfrm>
            <a:off x="8275320" y="6199632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※ 모든 전이는 b_tick일 때만 평가, 조건 불만족 시 상태 유지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h7ba9a5772fd67660_0_44"/>
          <p:cNvSpPr txBox="1"/>
          <p:nvPr/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Related Technical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h7ba9a5772fd67660_0_44"/>
          <p:cNvSpPr/>
          <p:nvPr/>
        </p:nvSpPr>
        <p:spPr>
          <a:xfrm>
            <a:off x="256950" y="814000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h7ba9a5772fd67660_0_44"/>
          <p:cNvSpPr txBox="1"/>
          <p:nvPr/>
        </p:nvSpPr>
        <p:spPr>
          <a:xfrm>
            <a:off x="893620" y="988475"/>
            <a:ext cx="3657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TX  FSM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0" name="Google Shape;530;h7ba9a5772fd67660_0_44"/>
          <p:cNvCxnSpPr/>
          <p:nvPr/>
        </p:nvCxnSpPr>
        <p:spPr>
          <a:xfrm>
            <a:off x="685800" y="2788920"/>
            <a:ext cx="1005900" cy="0"/>
          </a:xfrm>
          <a:prstGeom prst="straightConnector1">
            <a:avLst/>
          </a:prstGeom>
          <a:noFill/>
          <a:ln cap="flat" cmpd="sng" w="22225">
            <a:solidFill>
              <a:srgbClr val="E8590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1" name="Google Shape;531;h7ba9a5772fd67660_0_44"/>
          <p:cNvSpPr txBox="1"/>
          <p:nvPr/>
        </p:nvSpPr>
        <p:spPr>
          <a:xfrm>
            <a:off x="685800" y="2514600"/>
            <a:ext cx="914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rst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h7ba9a5772fd67660_0_44"/>
          <p:cNvCxnSpPr/>
          <p:nvPr/>
        </p:nvCxnSpPr>
        <p:spPr>
          <a:xfrm>
            <a:off x="2971800" y="2788920"/>
            <a:ext cx="2377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3" name="Google Shape;533;h7ba9a5772fd67660_0_44"/>
          <p:cNvSpPr txBox="1"/>
          <p:nvPr/>
        </p:nvSpPr>
        <p:spPr>
          <a:xfrm>
            <a:off x="2935224" y="2313432"/>
            <a:ext cx="2450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tx_start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(b_tick 무관)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h7ba9a5772fd67660_0_44"/>
          <p:cNvSpPr txBox="1"/>
          <p:nvPr/>
        </p:nvSpPr>
        <p:spPr>
          <a:xfrm>
            <a:off x="2935224" y="2862072"/>
            <a:ext cx="24507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data ← tx_data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cnt←0, bit_cnt←0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5" name="Google Shape;535;h7ba9a5772fd67660_0_44"/>
          <p:cNvCxnSpPr/>
          <p:nvPr/>
        </p:nvCxnSpPr>
        <p:spPr>
          <a:xfrm>
            <a:off x="5989320" y="3429000"/>
            <a:ext cx="0" cy="12345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6" name="Google Shape;536;h7ba9a5772fd67660_0_44"/>
          <p:cNvSpPr txBox="1"/>
          <p:nvPr/>
        </p:nvSpPr>
        <p:spPr>
          <a:xfrm>
            <a:off x="6117336" y="3739896"/>
            <a:ext cx="1783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 &amp; cnt ==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7" name="Google Shape;537;h7ba9a5772fd67660_0_44"/>
          <p:cNvCxnSpPr/>
          <p:nvPr/>
        </p:nvCxnSpPr>
        <p:spPr>
          <a:xfrm rot="10800000">
            <a:off x="2971740" y="5303520"/>
            <a:ext cx="2377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38" name="Google Shape;538;h7ba9a5772fd67660_0_44"/>
          <p:cNvSpPr txBox="1"/>
          <p:nvPr/>
        </p:nvSpPr>
        <p:spPr>
          <a:xfrm>
            <a:off x="2935224" y="4828031"/>
            <a:ext cx="2450700" cy="363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 &amp; cnt ==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&amp; bit_cnt ==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h7ba9a5772fd67660_0_44"/>
          <p:cNvSpPr txBox="1"/>
          <p:nvPr/>
        </p:nvSpPr>
        <p:spPr>
          <a:xfrm>
            <a:off x="2935224" y="5376672"/>
            <a:ext cx="2450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0" name="Google Shape;540;h7ba9a5772fd67660_0_44"/>
          <p:cNvCxnSpPr/>
          <p:nvPr/>
        </p:nvCxnSpPr>
        <p:spPr>
          <a:xfrm rot="10800000">
            <a:off x="2331720" y="3428940"/>
            <a:ext cx="0" cy="12345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41" name="Google Shape;541;h7ba9a5772fd67660_0_44"/>
          <p:cNvSpPr txBox="1"/>
          <p:nvPr/>
        </p:nvSpPr>
        <p:spPr>
          <a:xfrm>
            <a:off x="2459736" y="3739896"/>
            <a:ext cx="1737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b_tick &amp; cnt ==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→ tx_busy ←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h7ba9a5772fd67660_0_44"/>
          <p:cNvSpPr/>
          <p:nvPr/>
        </p:nvSpPr>
        <p:spPr>
          <a:xfrm>
            <a:off x="1728215" y="2185415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tx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h7ba9a5772fd67660_0_44"/>
          <p:cNvSpPr/>
          <p:nvPr/>
        </p:nvSpPr>
        <p:spPr>
          <a:xfrm>
            <a:off x="5385816" y="2185415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tx 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h7ba9a5772fd67660_0_44"/>
          <p:cNvSpPr/>
          <p:nvPr/>
        </p:nvSpPr>
        <p:spPr>
          <a:xfrm>
            <a:off x="5385816" y="4700016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tx = data[0]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h7ba9a5772fd67660_0_44"/>
          <p:cNvSpPr/>
          <p:nvPr/>
        </p:nvSpPr>
        <p:spPr>
          <a:xfrm>
            <a:off x="1728215" y="4700016"/>
            <a:ext cx="1206900" cy="1206900"/>
          </a:xfrm>
          <a:prstGeom prst="ellipse">
            <a:avLst/>
          </a:prstGeom>
          <a:solidFill>
            <a:srgbClr val="3A70FC"/>
          </a:solidFill>
          <a:ln cap="flat" cmpd="sng" w="317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6E2FF"/>
                </a:solidFill>
                <a:latin typeface="Arial"/>
                <a:ea typeface="Arial"/>
                <a:cs typeface="Arial"/>
                <a:sym typeface="Arial"/>
              </a:rPr>
              <a:t>2'b11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2CC"/>
                </a:solidFill>
                <a:latin typeface="Arial"/>
                <a:ea typeface="Arial"/>
                <a:cs typeface="Arial"/>
                <a:sym typeface="Arial"/>
              </a:rPr>
              <a:t>tx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h7ba9a5772fd67660_0_44"/>
          <p:cNvSpPr/>
          <p:nvPr/>
        </p:nvSpPr>
        <p:spPr>
          <a:xfrm>
            <a:off x="2084831" y="1773936"/>
            <a:ext cx="493800" cy="493800"/>
          </a:xfrm>
          <a:prstGeom prst="arc">
            <a:avLst>
              <a:gd fmla="val 13089134" name="adj1"/>
              <a:gd fmla="val 4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h7ba9a5772fd67660_0_44"/>
          <p:cNvSpPr txBox="1"/>
          <p:nvPr/>
        </p:nvSpPr>
        <p:spPr>
          <a:xfrm>
            <a:off x="2697479" y="1618487"/>
            <a:ext cx="2194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tx_start ==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tx←1, tx_busy←0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h7ba9a5772fd67660_0_44"/>
          <p:cNvSpPr/>
          <p:nvPr/>
        </p:nvSpPr>
        <p:spPr>
          <a:xfrm>
            <a:off x="5742431" y="1773936"/>
            <a:ext cx="493800" cy="493800"/>
          </a:xfrm>
          <a:prstGeom prst="arc">
            <a:avLst>
              <a:gd fmla="val 13089134" name="adj1"/>
              <a:gd fmla="val 4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h7ba9a5772fd67660_0_44"/>
          <p:cNvSpPr txBox="1"/>
          <p:nvPr/>
        </p:nvSpPr>
        <p:spPr>
          <a:xfrm>
            <a:off x="6355080" y="1618487"/>
            <a:ext cx="1828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b_tick &amp; cnt &lt;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cnt++, tx_busy←1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h7ba9a5772fd67660_0_44"/>
          <p:cNvSpPr/>
          <p:nvPr/>
        </p:nvSpPr>
        <p:spPr>
          <a:xfrm>
            <a:off x="5742431" y="5824727"/>
            <a:ext cx="493800" cy="493800"/>
          </a:xfrm>
          <a:prstGeom prst="arc">
            <a:avLst>
              <a:gd fmla="val 31089134" name="adj1"/>
              <a:gd fmla="val 22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h7ba9a5772fd67660_0_44"/>
          <p:cNvSpPr txBox="1"/>
          <p:nvPr/>
        </p:nvSpPr>
        <p:spPr>
          <a:xfrm>
            <a:off x="6355080" y="5998464"/>
            <a:ext cx="2011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cnt &lt; 15</a:t>
            </a: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 : cnt++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cnt == 15 &amp; bit_cnt &lt; 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data&gt;&gt;1, bit_cnt++, cnt←0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h7ba9a5772fd67660_0_44"/>
          <p:cNvSpPr/>
          <p:nvPr/>
        </p:nvSpPr>
        <p:spPr>
          <a:xfrm>
            <a:off x="2084831" y="5824727"/>
            <a:ext cx="493800" cy="493800"/>
          </a:xfrm>
          <a:prstGeom prst="arc">
            <a:avLst>
              <a:gd fmla="val 31089134" name="adj1"/>
              <a:gd fmla="val 22910865" name="adj2"/>
            </a:avLst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h7ba9a5772fd67660_0_44"/>
          <p:cNvSpPr txBox="1"/>
          <p:nvPr/>
        </p:nvSpPr>
        <p:spPr>
          <a:xfrm>
            <a:off x="2697479" y="6071616"/>
            <a:ext cx="18288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b_tick &amp; cnt &lt; 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cnt++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h7ba9a5772fd67660_0_44"/>
          <p:cNvSpPr txBox="1"/>
          <p:nvPr/>
        </p:nvSpPr>
        <p:spPr>
          <a:xfrm>
            <a:off x="8275320" y="1024128"/>
            <a:ext cx="3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상태별 동작</a:t>
            </a: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   b_tick = 16× baud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h7ba9a5772fd67660_0_44"/>
          <p:cNvSpPr/>
          <p:nvPr/>
        </p:nvSpPr>
        <p:spPr>
          <a:xfrm>
            <a:off x="8275320" y="1389888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h7ba9a5772fd67660_0_44"/>
          <p:cNvSpPr/>
          <p:nvPr/>
        </p:nvSpPr>
        <p:spPr>
          <a:xfrm>
            <a:off x="8421624" y="1536192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IDLE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h7ba9a5772fd67660_0_44"/>
          <p:cNvSpPr txBox="1"/>
          <p:nvPr/>
        </p:nvSpPr>
        <p:spPr>
          <a:xfrm>
            <a:off x="9244584" y="1536192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대기 (tx = 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h7ba9a5772fd67660_0_44"/>
          <p:cNvSpPr txBox="1"/>
          <p:nvPr/>
        </p:nvSpPr>
        <p:spPr>
          <a:xfrm>
            <a:off x="8439912" y="1883664"/>
            <a:ext cx="309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5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 tx_start가 들어오면 tx_data를 래치하고 START로 이동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h7ba9a5772fd67660_0_44"/>
          <p:cNvSpPr/>
          <p:nvPr/>
        </p:nvSpPr>
        <p:spPr>
          <a:xfrm>
            <a:off x="8275320" y="2560320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h7ba9a5772fd67660_0_44"/>
          <p:cNvSpPr/>
          <p:nvPr/>
        </p:nvSpPr>
        <p:spPr>
          <a:xfrm>
            <a:off x="8421624" y="2706624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h7ba9a5772fd67660_0_44"/>
          <p:cNvSpPr txBox="1"/>
          <p:nvPr/>
        </p:nvSpPr>
        <p:spPr>
          <a:xfrm>
            <a:off x="9244584" y="2706624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start bit 송신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h7ba9a5772fd67660_0_44"/>
          <p:cNvSpPr txBox="1"/>
          <p:nvPr/>
        </p:nvSpPr>
        <p:spPr>
          <a:xfrm>
            <a:off x="8439912" y="3054096"/>
            <a:ext cx="309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5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tx = 0, tx_busy = 1 출력. 16 tick(1 bit) 유지 후 DATA로 이동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h7ba9a5772fd67660_0_44"/>
          <p:cNvSpPr/>
          <p:nvPr/>
        </p:nvSpPr>
        <p:spPr>
          <a:xfrm>
            <a:off x="8275320" y="3730752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h7ba9a5772fd67660_0_44"/>
          <p:cNvSpPr/>
          <p:nvPr/>
        </p:nvSpPr>
        <p:spPr>
          <a:xfrm>
            <a:off x="8421624" y="3877056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h7ba9a5772fd67660_0_44"/>
          <p:cNvSpPr txBox="1"/>
          <p:nvPr/>
        </p:nvSpPr>
        <p:spPr>
          <a:xfrm>
            <a:off x="9244584" y="3877056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8bit 송신 (LSB first)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h7ba9a5772fd67660_0_44"/>
          <p:cNvSpPr txBox="1"/>
          <p:nvPr/>
        </p:nvSpPr>
        <p:spPr>
          <a:xfrm>
            <a:off x="8439900" y="4224525"/>
            <a:ext cx="32268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3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tx = data_reg[0] 출력, 16 tick마다 오른쪽 시프트. bit_cnt = 7이면 STOP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h7ba9a5772fd67660_0_44"/>
          <p:cNvSpPr/>
          <p:nvPr/>
        </p:nvSpPr>
        <p:spPr>
          <a:xfrm>
            <a:off x="8275320" y="4901183"/>
            <a:ext cx="3429000" cy="1051500"/>
          </a:xfrm>
          <a:prstGeom prst="roundRect">
            <a:avLst>
              <a:gd fmla="val 8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h7ba9a5772fd67660_0_44"/>
          <p:cNvSpPr/>
          <p:nvPr/>
        </p:nvSpPr>
        <p:spPr>
          <a:xfrm>
            <a:off x="8421624" y="5047488"/>
            <a:ext cx="713100" cy="2559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h7ba9a5772fd67660_0_44"/>
          <p:cNvSpPr txBox="1"/>
          <p:nvPr/>
        </p:nvSpPr>
        <p:spPr>
          <a:xfrm>
            <a:off x="9244584" y="5047488"/>
            <a:ext cx="23316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stop bit 송신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h7ba9a5772fd67660_0_44"/>
          <p:cNvSpPr txBox="1"/>
          <p:nvPr/>
        </p:nvSpPr>
        <p:spPr>
          <a:xfrm>
            <a:off x="8439912" y="5394959"/>
            <a:ext cx="3099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5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tx = 1, 16 tick 유지 후 IDLE로 복귀 → tx_busy = 0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h7ba9a5772fd67660_0_44"/>
          <p:cNvSpPr txBox="1"/>
          <p:nvPr/>
        </p:nvSpPr>
        <p:spPr>
          <a:xfrm>
            <a:off x="8275320" y="6199632"/>
            <a:ext cx="3429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※ IDLE→START만 tx_start로 즉시 전이, 나머지는 b_tick일 때 평가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h2e31e1e379926e44_0_0"/>
          <p:cNvSpPr txBox="1"/>
          <p:nvPr/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Related Technical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h2e31e1e379926e44_0_0"/>
          <p:cNvSpPr/>
          <p:nvPr/>
        </p:nvSpPr>
        <p:spPr>
          <a:xfrm>
            <a:off x="256950" y="814000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h2e31e1e379926e44_0_0"/>
          <p:cNvSpPr txBox="1"/>
          <p:nvPr/>
        </p:nvSpPr>
        <p:spPr>
          <a:xfrm>
            <a:off x="893620" y="988475"/>
            <a:ext cx="36576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FIFO  ASM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h2e31e1e379926e44_0_0"/>
          <p:cNvSpPr/>
          <p:nvPr/>
        </p:nvSpPr>
        <p:spPr>
          <a:xfrm>
            <a:off x="4389120" y="1115568"/>
            <a:ext cx="3017400" cy="603600"/>
          </a:xfrm>
          <a:prstGeom prst="rect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wptr = wptr_reg,  rptr = rptr_reg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full = full_reg,  empty = empty_reg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h2e31e1e379926e44_0_0"/>
          <p:cNvSpPr txBox="1"/>
          <p:nvPr/>
        </p:nvSpPr>
        <p:spPr>
          <a:xfrm>
            <a:off x="4389120" y="886968"/>
            <a:ext cx="1828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CTRL 상태  (매 clk)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1" name="Google Shape;581;h2e31e1e379926e44_0_0"/>
          <p:cNvCxnSpPr/>
          <p:nvPr/>
        </p:nvCxnSpPr>
        <p:spPr>
          <a:xfrm>
            <a:off x="6903720" y="886968"/>
            <a:ext cx="0" cy="228600"/>
          </a:xfrm>
          <a:prstGeom prst="straightConnector1">
            <a:avLst/>
          </a:prstGeom>
          <a:noFill/>
          <a:ln cap="flat" cmpd="sng" w="22225">
            <a:solidFill>
              <a:srgbClr val="E8590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2" name="Google Shape;582;h2e31e1e379926e44_0_0"/>
          <p:cNvSpPr txBox="1"/>
          <p:nvPr/>
        </p:nvSpPr>
        <p:spPr>
          <a:xfrm>
            <a:off x="6995160" y="868680"/>
            <a:ext cx="2377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rst</a:t>
            </a:r>
            <a:r>
              <a:rPr b="0" i="0" lang="en-US" sz="9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  wptr·rptr·full = 0, empty =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3" name="Google Shape;583;h2e31e1e379926e44_0_0"/>
          <p:cNvCxnSpPr/>
          <p:nvPr/>
        </p:nvCxnSpPr>
        <p:spPr>
          <a:xfrm>
            <a:off x="5897880" y="1719072"/>
            <a:ext cx="0" cy="1281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4" name="Google Shape;584;h2e31e1e379926e44_0_0"/>
          <p:cNvSpPr/>
          <p:nvPr/>
        </p:nvSpPr>
        <p:spPr>
          <a:xfrm>
            <a:off x="4983480" y="1847088"/>
            <a:ext cx="1828800" cy="5670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{push, pop}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5" name="Google Shape;585;h2e31e1e379926e44_0_0"/>
          <p:cNvCxnSpPr/>
          <p:nvPr/>
        </p:nvCxnSpPr>
        <p:spPr>
          <a:xfrm>
            <a:off x="5897880" y="2414016"/>
            <a:ext cx="0" cy="1464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6" name="Google Shape;586;h2e31e1e379926e44_0_0"/>
          <p:cNvSpPr/>
          <p:nvPr/>
        </p:nvSpPr>
        <p:spPr>
          <a:xfrm>
            <a:off x="411480" y="2697480"/>
            <a:ext cx="1326000" cy="3538800"/>
          </a:xfrm>
          <a:prstGeom prst="roundRect">
            <a:avLst>
              <a:gd fmla="val 5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7" name="Google Shape;587;h2e31e1e379926e44_0_0"/>
          <p:cNvCxnSpPr/>
          <p:nvPr/>
        </p:nvCxnSpPr>
        <p:spPr>
          <a:xfrm>
            <a:off x="1074420" y="2560320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88" name="Google Shape;588;h2e31e1e379926e44_0_0"/>
          <p:cNvSpPr/>
          <p:nvPr/>
        </p:nvSpPr>
        <p:spPr>
          <a:xfrm>
            <a:off x="507492" y="2816352"/>
            <a:ext cx="1134000" cy="2925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00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입력 없음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h2e31e1e379926e44_0_0"/>
          <p:cNvSpPr/>
          <p:nvPr/>
        </p:nvSpPr>
        <p:spPr>
          <a:xfrm>
            <a:off x="1847088" y="2697480"/>
            <a:ext cx="3246000" cy="3538800"/>
          </a:xfrm>
          <a:prstGeom prst="roundRect">
            <a:avLst>
              <a:gd fmla="val 5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h2e31e1e379926e44_0_0"/>
          <p:cNvCxnSpPr/>
          <p:nvPr/>
        </p:nvCxnSpPr>
        <p:spPr>
          <a:xfrm>
            <a:off x="2944368" y="2560320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1" name="Google Shape;591;h2e31e1e379926e44_0_0"/>
          <p:cNvSpPr/>
          <p:nvPr/>
        </p:nvSpPr>
        <p:spPr>
          <a:xfrm>
            <a:off x="2377439" y="2816352"/>
            <a:ext cx="1134000" cy="2925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push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h2e31e1e379926e44_0_0"/>
          <p:cNvSpPr/>
          <p:nvPr/>
        </p:nvSpPr>
        <p:spPr>
          <a:xfrm>
            <a:off x="5202936" y="2697480"/>
            <a:ext cx="3246000" cy="3538800"/>
          </a:xfrm>
          <a:prstGeom prst="roundRect">
            <a:avLst>
              <a:gd fmla="val 5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h2e31e1e379926e44_0_0"/>
          <p:cNvCxnSpPr/>
          <p:nvPr/>
        </p:nvCxnSpPr>
        <p:spPr>
          <a:xfrm>
            <a:off x="6300216" y="2560320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4" name="Google Shape;594;h2e31e1e379926e44_0_0"/>
          <p:cNvSpPr/>
          <p:nvPr/>
        </p:nvSpPr>
        <p:spPr>
          <a:xfrm>
            <a:off x="5733288" y="2816352"/>
            <a:ext cx="1134000" cy="2925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h2e31e1e379926e44_0_0"/>
          <p:cNvSpPr/>
          <p:nvPr/>
        </p:nvSpPr>
        <p:spPr>
          <a:xfrm>
            <a:off x="8558784" y="2697480"/>
            <a:ext cx="3246000" cy="3538800"/>
          </a:xfrm>
          <a:prstGeom prst="roundRect">
            <a:avLst>
              <a:gd fmla="val 5000" name="adj"/>
            </a:avLst>
          </a:prstGeom>
          <a:solidFill>
            <a:srgbClr val="F5F8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6" name="Google Shape;596;h2e31e1e379926e44_0_0"/>
          <p:cNvCxnSpPr/>
          <p:nvPr/>
        </p:nvCxnSpPr>
        <p:spPr>
          <a:xfrm>
            <a:off x="9656063" y="2560320"/>
            <a:ext cx="0" cy="2559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97" name="Google Shape;597;h2e31e1e379926e44_0_0"/>
          <p:cNvSpPr/>
          <p:nvPr/>
        </p:nvSpPr>
        <p:spPr>
          <a:xfrm>
            <a:off x="9089136" y="2816352"/>
            <a:ext cx="1134000" cy="292500"/>
          </a:xfrm>
          <a:prstGeom prst="roundRect">
            <a:avLst>
              <a:gd fmla="val 50000" name="adj"/>
            </a:avLst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push + pop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8" name="Google Shape;598;h2e31e1e379926e44_0_0"/>
          <p:cNvCxnSpPr/>
          <p:nvPr/>
        </p:nvCxnSpPr>
        <p:spPr>
          <a:xfrm>
            <a:off x="1074420" y="2560320"/>
            <a:ext cx="8581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599" name="Google Shape;599;h2e31e1e379926e44_0_0"/>
          <p:cNvCxnSpPr/>
          <p:nvPr/>
        </p:nvCxnSpPr>
        <p:spPr>
          <a:xfrm>
            <a:off x="1074420" y="3108960"/>
            <a:ext cx="0" cy="2013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0" name="Google Shape;600;h2e31e1e379926e44_0_0"/>
          <p:cNvSpPr/>
          <p:nvPr/>
        </p:nvSpPr>
        <p:spPr>
          <a:xfrm>
            <a:off x="548640" y="3310128"/>
            <a:ext cx="1051500" cy="384000"/>
          </a:xfrm>
          <a:prstGeom prst="roundRect">
            <a:avLst>
              <a:gd fmla="val 50000" name="adj"/>
            </a:avLst>
          </a:prstGeom>
          <a:solidFill>
            <a:srgbClr val="ECEE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변화 없음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h2e31e1e379926e44_0_0"/>
          <p:cNvSpPr txBox="1"/>
          <p:nvPr/>
        </p:nvSpPr>
        <p:spPr>
          <a:xfrm>
            <a:off x="502920" y="3813048"/>
            <a:ext cx="11430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포인터·플래그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그대로 유지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2" name="Google Shape;602;h2e31e1e379926e44_0_0"/>
          <p:cNvCxnSpPr/>
          <p:nvPr/>
        </p:nvCxnSpPr>
        <p:spPr>
          <a:xfrm>
            <a:off x="2944368" y="3108960"/>
            <a:ext cx="0" cy="2013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3" name="Google Shape;603;h2e31e1e379926e44_0_0"/>
          <p:cNvSpPr/>
          <p:nvPr/>
        </p:nvSpPr>
        <p:spPr>
          <a:xfrm>
            <a:off x="2167127" y="3310128"/>
            <a:ext cx="1554600" cy="6036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full_reg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4" name="Google Shape;604;h2e31e1e379926e44_0_0"/>
          <p:cNvCxnSpPr/>
          <p:nvPr/>
        </p:nvCxnSpPr>
        <p:spPr>
          <a:xfrm>
            <a:off x="3721607" y="3611880"/>
            <a:ext cx="292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5" name="Google Shape;605;h2e31e1e379926e44_0_0"/>
          <p:cNvSpPr txBox="1"/>
          <p:nvPr/>
        </p:nvSpPr>
        <p:spPr>
          <a:xfrm>
            <a:off x="3794759" y="3374136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h2e31e1e379926e44_0_0"/>
          <p:cNvSpPr/>
          <p:nvPr/>
        </p:nvSpPr>
        <p:spPr>
          <a:xfrm>
            <a:off x="4014215" y="3429000"/>
            <a:ext cx="1005900" cy="365700"/>
          </a:xfrm>
          <a:prstGeom prst="roundRect">
            <a:avLst>
              <a:gd fmla="val 50000" name="adj"/>
            </a:avLst>
          </a:prstGeom>
          <a:solidFill>
            <a:srgbClr val="ECEE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무시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7" name="Google Shape;607;h2e31e1e379926e44_0_0"/>
          <p:cNvCxnSpPr/>
          <p:nvPr/>
        </p:nvCxnSpPr>
        <p:spPr>
          <a:xfrm>
            <a:off x="2944368" y="3913632"/>
            <a:ext cx="0" cy="2196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08" name="Google Shape;608;h2e31e1e379926e44_0_0"/>
          <p:cNvSpPr txBox="1"/>
          <p:nvPr/>
        </p:nvSpPr>
        <p:spPr>
          <a:xfrm>
            <a:off x="3008375" y="3913632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h2e31e1e379926e44_0_0"/>
          <p:cNvSpPr/>
          <p:nvPr/>
        </p:nvSpPr>
        <p:spPr>
          <a:xfrm>
            <a:off x="2029967" y="4133087"/>
            <a:ext cx="1828800" cy="548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empty ←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wptr ← wptr+1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0" name="Google Shape;610;h2e31e1e379926e44_0_0"/>
          <p:cNvCxnSpPr/>
          <p:nvPr/>
        </p:nvCxnSpPr>
        <p:spPr>
          <a:xfrm>
            <a:off x="2944368" y="4681727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1" name="Google Shape;611;h2e31e1e379926e44_0_0"/>
          <p:cNvSpPr/>
          <p:nvPr/>
        </p:nvSpPr>
        <p:spPr>
          <a:xfrm>
            <a:off x="2121408" y="4919472"/>
            <a:ext cx="1645800" cy="6585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wptr+1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== rptr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2" name="Google Shape;612;h2e31e1e379926e44_0_0"/>
          <p:cNvCxnSpPr/>
          <p:nvPr/>
        </p:nvCxnSpPr>
        <p:spPr>
          <a:xfrm>
            <a:off x="3767328" y="5248656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3" name="Google Shape;613;h2e31e1e379926e44_0_0"/>
          <p:cNvSpPr txBox="1"/>
          <p:nvPr/>
        </p:nvSpPr>
        <p:spPr>
          <a:xfrm>
            <a:off x="3840480" y="5010912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h2e31e1e379926e44_0_0"/>
          <p:cNvSpPr/>
          <p:nvPr/>
        </p:nvSpPr>
        <p:spPr>
          <a:xfrm>
            <a:off x="4014215" y="4956048"/>
            <a:ext cx="1005900" cy="585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full ←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5" name="Google Shape;615;h2e31e1e379926e44_0_0"/>
          <p:cNvCxnSpPr/>
          <p:nvPr/>
        </p:nvCxnSpPr>
        <p:spPr>
          <a:xfrm>
            <a:off x="2944368" y="5577840"/>
            <a:ext cx="0" cy="1554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6" name="Google Shape;616;h2e31e1e379926e44_0_0"/>
          <p:cNvSpPr txBox="1"/>
          <p:nvPr/>
        </p:nvSpPr>
        <p:spPr>
          <a:xfrm>
            <a:off x="3008375" y="5577840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h2e31e1e379926e44_0_0"/>
          <p:cNvSpPr/>
          <p:nvPr/>
        </p:nvSpPr>
        <p:spPr>
          <a:xfrm>
            <a:off x="2395727" y="5733288"/>
            <a:ext cx="1097400" cy="347400"/>
          </a:xfrm>
          <a:prstGeom prst="roundRect">
            <a:avLst>
              <a:gd fmla="val 50000" name="adj"/>
            </a:avLst>
          </a:prstGeom>
          <a:solidFill>
            <a:srgbClr val="ECEE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full 유지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h2e31e1e379926e44_0_0"/>
          <p:cNvCxnSpPr/>
          <p:nvPr/>
        </p:nvCxnSpPr>
        <p:spPr>
          <a:xfrm>
            <a:off x="6300216" y="3108960"/>
            <a:ext cx="0" cy="2013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19" name="Google Shape;619;h2e31e1e379926e44_0_0"/>
          <p:cNvSpPr/>
          <p:nvPr/>
        </p:nvSpPr>
        <p:spPr>
          <a:xfrm>
            <a:off x="5522976" y="3310128"/>
            <a:ext cx="1554600" cy="6036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empty_reg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0" name="Google Shape;620;h2e31e1e379926e44_0_0"/>
          <p:cNvCxnSpPr/>
          <p:nvPr/>
        </p:nvCxnSpPr>
        <p:spPr>
          <a:xfrm>
            <a:off x="7077456" y="3611880"/>
            <a:ext cx="292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1" name="Google Shape;621;h2e31e1e379926e44_0_0"/>
          <p:cNvSpPr txBox="1"/>
          <p:nvPr/>
        </p:nvSpPr>
        <p:spPr>
          <a:xfrm>
            <a:off x="7150608" y="3374136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h2e31e1e379926e44_0_0"/>
          <p:cNvSpPr/>
          <p:nvPr/>
        </p:nvSpPr>
        <p:spPr>
          <a:xfrm>
            <a:off x="7370064" y="3429000"/>
            <a:ext cx="1005900" cy="365700"/>
          </a:xfrm>
          <a:prstGeom prst="roundRect">
            <a:avLst>
              <a:gd fmla="val 50000" name="adj"/>
            </a:avLst>
          </a:prstGeom>
          <a:solidFill>
            <a:srgbClr val="ECEE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무시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3" name="Google Shape;623;h2e31e1e379926e44_0_0"/>
          <p:cNvCxnSpPr/>
          <p:nvPr/>
        </p:nvCxnSpPr>
        <p:spPr>
          <a:xfrm>
            <a:off x="6300216" y="3913632"/>
            <a:ext cx="0" cy="2196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4" name="Google Shape;624;h2e31e1e379926e44_0_0"/>
          <p:cNvSpPr txBox="1"/>
          <p:nvPr/>
        </p:nvSpPr>
        <p:spPr>
          <a:xfrm>
            <a:off x="6364224" y="3913632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h2e31e1e379926e44_0_0"/>
          <p:cNvSpPr/>
          <p:nvPr/>
        </p:nvSpPr>
        <p:spPr>
          <a:xfrm>
            <a:off x="5385816" y="4133087"/>
            <a:ext cx="1828800" cy="548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full ←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rptr ← rptr+1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h2e31e1e379926e44_0_0"/>
          <p:cNvCxnSpPr/>
          <p:nvPr/>
        </p:nvCxnSpPr>
        <p:spPr>
          <a:xfrm>
            <a:off x="6300216" y="4681727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7" name="Google Shape;627;h2e31e1e379926e44_0_0"/>
          <p:cNvSpPr/>
          <p:nvPr/>
        </p:nvSpPr>
        <p:spPr>
          <a:xfrm>
            <a:off x="5477256" y="4919472"/>
            <a:ext cx="1645800" cy="6585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rptr+1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== wptr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8" name="Google Shape;628;h2e31e1e379926e44_0_0"/>
          <p:cNvCxnSpPr/>
          <p:nvPr/>
        </p:nvCxnSpPr>
        <p:spPr>
          <a:xfrm>
            <a:off x="7123176" y="5248656"/>
            <a:ext cx="2469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29" name="Google Shape;629;h2e31e1e379926e44_0_0"/>
          <p:cNvSpPr txBox="1"/>
          <p:nvPr/>
        </p:nvSpPr>
        <p:spPr>
          <a:xfrm>
            <a:off x="7196328" y="5010912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h2e31e1e379926e44_0_0"/>
          <p:cNvSpPr/>
          <p:nvPr/>
        </p:nvSpPr>
        <p:spPr>
          <a:xfrm>
            <a:off x="7370064" y="4956048"/>
            <a:ext cx="1005900" cy="585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empty ←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1" name="Google Shape;631;h2e31e1e379926e44_0_0"/>
          <p:cNvCxnSpPr/>
          <p:nvPr/>
        </p:nvCxnSpPr>
        <p:spPr>
          <a:xfrm>
            <a:off x="6300216" y="5577840"/>
            <a:ext cx="0" cy="1554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2" name="Google Shape;632;h2e31e1e379926e44_0_0"/>
          <p:cNvSpPr txBox="1"/>
          <p:nvPr/>
        </p:nvSpPr>
        <p:spPr>
          <a:xfrm>
            <a:off x="6364224" y="5577840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h2e31e1e379926e44_0_0"/>
          <p:cNvSpPr/>
          <p:nvPr/>
        </p:nvSpPr>
        <p:spPr>
          <a:xfrm>
            <a:off x="5751576" y="5733288"/>
            <a:ext cx="1097400" cy="347400"/>
          </a:xfrm>
          <a:prstGeom prst="roundRect">
            <a:avLst>
              <a:gd fmla="val 50000" name="adj"/>
            </a:avLst>
          </a:prstGeom>
          <a:solidFill>
            <a:srgbClr val="ECEE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empty 유지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h2e31e1e379926e44_0_0"/>
          <p:cNvCxnSpPr/>
          <p:nvPr/>
        </p:nvCxnSpPr>
        <p:spPr>
          <a:xfrm>
            <a:off x="9656063" y="3108960"/>
            <a:ext cx="0" cy="2013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5" name="Google Shape;635;h2e31e1e379926e44_0_0"/>
          <p:cNvSpPr/>
          <p:nvPr/>
        </p:nvSpPr>
        <p:spPr>
          <a:xfrm>
            <a:off x="8878824" y="3310128"/>
            <a:ext cx="1554600" cy="6036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full_reg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6" name="Google Shape;636;h2e31e1e379926e44_0_0"/>
          <p:cNvCxnSpPr/>
          <p:nvPr/>
        </p:nvCxnSpPr>
        <p:spPr>
          <a:xfrm>
            <a:off x="10433303" y="3611880"/>
            <a:ext cx="292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37" name="Google Shape;637;h2e31e1e379926e44_0_0"/>
          <p:cNvSpPr txBox="1"/>
          <p:nvPr/>
        </p:nvSpPr>
        <p:spPr>
          <a:xfrm>
            <a:off x="10506455" y="3374136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h2e31e1e379926e44_0_0"/>
          <p:cNvSpPr/>
          <p:nvPr/>
        </p:nvSpPr>
        <p:spPr>
          <a:xfrm>
            <a:off x="10725911" y="3319272"/>
            <a:ext cx="1005900" cy="585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rptr+1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full ←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9" name="Google Shape;639;h2e31e1e379926e44_0_0"/>
          <p:cNvCxnSpPr/>
          <p:nvPr/>
        </p:nvCxnSpPr>
        <p:spPr>
          <a:xfrm>
            <a:off x="9656063" y="3913632"/>
            <a:ext cx="0" cy="2196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0" name="Google Shape;640;h2e31e1e379926e44_0_0"/>
          <p:cNvSpPr txBox="1"/>
          <p:nvPr/>
        </p:nvSpPr>
        <p:spPr>
          <a:xfrm>
            <a:off x="9720072" y="3913632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h2e31e1e379926e44_0_0"/>
          <p:cNvSpPr/>
          <p:nvPr/>
        </p:nvSpPr>
        <p:spPr>
          <a:xfrm>
            <a:off x="8878824" y="4133087"/>
            <a:ext cx="1554600" cy="6036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empty_reg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2" name="Google Shape;642;h2e31e1e379926e44_0_0"/>
          <p:cNvCxnSpPr/>
          <p:nvPr/>
        </p:nvCxnSpPr>
        <p:spPr>
          <a:xfrm>
            <a:off x="10433303" y="4434840"/>
            <a:ext cx="292500" cy="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3" name="Google Shape;643;h2e31e1e379926e44_0_0"/>
          <p:cNvSpPr txBox="1"/>
          <p:nvPr/>
        </p:nvSpPr>
        <p:spPr>
          <a:xfrm>
            <a:off x="10506455" y="4197096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h2e31e1e379926e44_0_0"/>
          <p:cNvSpPr/>
          <p:nvPr/>
        </p:nvSpPr>
        <p:spPr>
          <a:xfrm>
            <a:off x="10725911" y="4142231"/>
            <a:ext cx="1005900" cy="5853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wptr+1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empty ←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h2e31e1e379926e44_0_0"/>
          <p:cNvCxnSpPr/>
          <p:nvPr/>
        </p:nvCxnSpPr>
        <p:spPr>
          <a:xfrm>
            <a:off x="9656063" y="4736592"/>
            <a:ext cx="0" cy="237600"/>
          </a:xfrm>
          <a:prstGeom prst="straightConnector1">
            <a:avLst/>
          </a:prstGeom>
          <a:noFill/>
          <a:ln cap="flat" cmpd="sng" w="19050">
            <a:solidFill>
              <a:srgbClr val="8A909C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646" name="Google Shape;646;h2e31e1e379926e44_0_0"/>
          <p:cNvSpPr txBox="1"/>
          <p:nvPr/>
        </p:nvSpPr>
        <p:spPr>
          <a:xfrm>
            <a:off x="9720072" y="4736592"/>
            <a:ext cx="27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859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h2e31e1e379926e44_0_0"/>
          <p:cNvSpPr/>
          <p:nvPr/>
        </p:nvSpPr>
        <p:spPr>
          <a:xfrm>
            <a:off x="8741663" y="4974336"/>
            <a:ext cx="1828800" cy="5487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wptr ← wptr+1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rptr ← rptr+1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h2e31e1e379926e44_0_0"/>
          <p:cNvSpPr txBox="1"/>
          <p:nvPr/>
        </p:nvSpPr>
        <p:spPr>
          <a:xfrm>
            <a:off x="8741663" y="5614415"/>
            <a:ext cx="18288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정상 동시 읽기·쓰기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h2e31e1e379926e44_0_0"/>
          <p:cNvSpPr txBox="1"/>
          <p:nvPr/>
        </p:nvSpPr>
        <p:spPr>
          <a:xfrm>
            <a:off x="457200" y="6309360"/>
            <a:ext cx="7315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※ 모든 경로는 다음 clk에 CTRL 상태로 복귀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h2e31e1e379926e44_0_0"/>
          <p:cNvSpPr txBox="1"/>
          <p:nvPr/>
        </p:nvSpPr>
        <p:spPr>
          <a:xfrm>
            <a:off x="9464040" y="932688"/>
            <a:ext cx="274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ASM 기호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h2e31e1e379926e44_0_0"/>
          <p:cNvSpPr/>
          <p:nvPr/>
        </p:nvSpPr>
        <p:spPr>
          <a:xfrm>
            <a:off x="9464040" y="1225296"/>
            <a:ext cx="457200" cy="219600"/>
          </a:xfrm>
          <a:prstGeom prst="rect">
            <a:avLst/>
          </a:prstGeom>
          <a:solidFill>
            <a:srgbClr val="3A70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h2e31e1e379926e44_0_0"/>
          <p:cNvSpPr txBox="1"/>
          <p:nvPr/>
        </p:nvSpPr>
        <p:spPr>
          <a:xfrm>
            <a:off x="10058400" y="1225296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상태 박스 (매 clk 출력)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h2e31e1e379926e44_0_0"/>
          <p:cNvSpPr/>
          <p:nvPr/>
        </p:nvSpPr>
        <p:spPr>
          <a:xfrm>
            <a:off x="9464040" y="1508760"/>
            <a:ext cx="457200" cy="274200"/>
          </a:xfrm>
          <a:prstGeom prst="diamond">
            <a:avLst/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h2e31e1e379926e44_0_0"/>
          <p:cNvSpPr txBox="1"/>
          <p:nvPr/>
        </p:nvSpPr>
        <p:spPr>
          <a:xfrm>
            <a:off x="10058400" y="1536192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결정 박스 (1 / 0 분기)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h2e31e1e379926e44_0_0"/>
          <p:cNvSpPr/>
          <p:nvPr/>
        </p:nvSpPr>
        <p:spPr>
          <a:xfrm>
            <a:off x="9464040" y="1847088"/>
            <a:ext cx="457200" cy="219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9050">
            <a:solidFill>
              <a:srgbClr val="3A70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h2e31e1e379926e44_0_0"/>
          <p:cNvSpPr txBox="1"/>
          <p:nvPr/>
        </p:nvSpPr>
        <p:spPr>
          <a:xfrm>
            <a:off x="10058400" y="1847088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조건 출력 (레지스터 갱신)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h2e31e1e379926e44_0_0"/>
          <p:cNvSpPr/>
          <p:nvPr/>
        </p:nvSpPr>
        <p:spPr>
          <a:xfrm>
            <a:off x="9464040" y="2157984"/>
            <a:ext cx="457200" cy="219600"/>
          </a:xfrm>
          <a:prstGeom prst="roundRect">
            <a:avLst>
              <a:gd fmla="val 50000" name="adj"/>
            </a:avLst>
          </a:prstGeom>
          <a:solidFill>
            <a:srgbClr val="ECEEF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h2e31e1e379926e44_0_0"/>
          <p:cNvSpPr txBox="1"/>
          <p:nvPr/>
        </p:nvSpPr>
        <p:spPr>
          <a:xfrm>
            <a:off x="10058400" y="2157984"/>
            <a:ext cx="21945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변화 없음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7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시나리오</a:t>
            </a:r>
            <a:endParaRPr sz="3000"/>
          </a:p>
        </p:txBody>
      </p:sp>
      <p:sp>
        <p:nvSpPr>
          <p:cNvPr id="664" name="Google Shape;664;p17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7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시나리오 개요</a:t>
            </a:r>
            <a:endParaRPr sz="3400"/>
          </a:p>
        </p:txBody>
      </p:sp>
      <p:cxnSp>
        <p:nvCxnSpPr>
          <p:cNvPr id="666" name="Google Shape;666;p17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67" name="Google Shape;667;p17"/>
          <p:cNvGraphicFramePr/>
          <p:nvPr/>
        </p:nvGraphicFramePr>
        <p:xfrm>
          <a:off x="731520" y="1828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{AFF53D6E-77AE-46F8-B0E6-74BFDA289CB4}</a:tableStyleId>
              </a:tblPr>
              <a:tblGrid>
                <a:gridCol w="1648475"/>
                <a:gridCol w="2781800"/>
                <a:gridCol w="2936350"/>
                <a:gridCol w="3090900"/>
              </a:tblGrid>
              <a:tr h="5406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구분</a:t>
                      </a:r>
                      <a:endParaRPr sz="16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목적</a:t>
                      </a:r>
                      <a:endParaRPr sz="16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주요 입력</a:t>
                      </a:r>
                      <a:endParaRPr sz="16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확인 항목</a:t>
                      </a:r>
                      <a:endParaRPr sz="16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</a:tr>
              <a:tr h="10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S1</a:t>
                      </a:r>
                      <a:endParaRPr sz="16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단일 바이트 루프백의 동작·타이밍 확인 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expected_data = 8’b01010101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상태 전이, 16 tick 간격, 시프트, FIFO 전달, 데이터 일치 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55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S2</a:t>
                      </a:r>
                      <a:endParaRPr sz="16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다양한 데이터 값에서 루프백 정상 동작 확인 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랜덤 8bit 값 256회 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회차별 데이터 일치, pass / fail 집계 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5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S3</a:t>
                      </a:r>
                      <a:endParaRPr sz="16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보레이트 오차 허용 범위 검증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송신 bit_period = BAUD_BIT_PERIOD × (1 + skew) 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270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550"/>
                        <a:buFont typeface="Arial"/>
                        <a:buChar char="-"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skew별 pass / fail 개수</a:t>
                      </a:r>
                      <a:endParaRPr sz="1550" u="none" cap="none" strike="noStrike">
                        <a:solidFill>
                          <a:srgbClr val="14141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270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550"/>
                        <a:buFont typeface="Arial"/>
                        <a:buChar char="-"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100% pass가 유지되는 최대 오차, 첫 fail 오차</a:t>
                      </a:r>
                      <a:endParaRPr sz="1550" u="none" cap="none" strike="noStrike">
                        <a:solidFill>
                          <a:srgbClr val="14141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327025" lvl="0" marL="45720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41413"/>
                        </a:buClr>
                        <a:buSzPts val="1550"/>
                        <a:buFont typeface="Arial"/>
                        <a:buChar char="-"/>
                      </a:pPr>
                      <a:r>
                        <a:rPr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위상 고정 / 랜덤에 따른 한계 차이</a:t>
                      </a:r>
                      <a:endParaRPr sz="1550" u="none" cap="none" strike="noStrike">
                        <a:solidFill>
                          <a:srgbClr val="14141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550" u="none" cap="none" strike="noStrike">
                          <a:solidFill>
                            <a:srgbClr val="3A70F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공통 조건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F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0" lang="en-US" sz="1550" u="none" cap="none" strike="noStrike">
                          <a:solidFill>
                            <a:srgbClr val="14141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clk 100 MHz (#5 토글) · 9600 bps 8N1 · 1 bit = 104,160 ns (651 × 16 tick × 10 ns)</a:t>
                      </a:r>
                      <a:endParaRPr sz="155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8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시나리오</a:t>
            </a:r>
            <a:endParaRPr sz="3000"/>
          </a:p>
        </p:txBody>
      </p:sp>
      <p:sp>
        <p:nvSpPr>
          <p:cNvPr id="673" name="Google Shape;673;p18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8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단일 바이트 검증</a:t>
            </a:r>
            <a:endParaRPr sz="3400"/>
          </a:p>
        </p:txBody>
      </p:sp>
      <p:cxnSp>
        <p:nvCxnSpPr>
          <p:cNvPr id="675" name="Google Shape;675;p18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676" name="Google Shape;676;p18"/>
          <p:cNvGraphicFramePr/>
          <p:nvPr/>
        </p:nvGraphicFramePr>
        <p:xfrm>
          <a:off x="736908" y="170898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{AFF53D6E-77AE-46F8-B0E6-74BFDA289CB4}</a:tableStyleId>
              </a:tblPr>
              <a:tblGrid>
                <a:gridCol w="485950"/>
                <a:gridCol w="2186200"/>
                <a:gridCol w="3042875"/>
                <a:gridCol w="53949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검증 항목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 · 조건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결과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IDLE → START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rx 1 → 0 (스타트 비트)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첫 b_tick에서 START 진입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START → DATA, D0 읽기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START에서 b_tick_cnt = 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 tick 후 DATA, D0 비트 중앙 부근에서 읽음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16 tick 간격 읽기 · 시프트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DATA에서 b_tick_cnt = 15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읽기 간격 104.16 µs (baud time), data_reg 우시프트 저장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DATA → STOP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b_tick_cnt = 15 &amp; bit_cnt = 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STOP 진입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5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수신 데이터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입력 0101_0101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rx_data = 0101_0101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FIFO 전달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rx_done 1클럭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RX FIFO → TX FIFO → uart_tx로 1클럭씩 전달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7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TX IDLE → START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tx_start = 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START 진입, tx = 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8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TX 비트 간격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START 이후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각 비트 16 tick (104.16 µs)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9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TX 시프트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tx_data → data_reg 래치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16 tick마다 우시프트, tx = data_reg[0]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10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최종 비교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receive_uart 수신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expected_data = result_data (pass)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21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682" name="Google Shape;682;p21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21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RX 검증 결과</a:t>
            </a:r>
            <a:endParaRPr sz="3400"/>
          </a:p>
        </p:txBody>
      </p:sp>
      <p:cxnSp>
        <p:nvCxnSpPr>
          <p:cNvPr id="684" name="Google Shape;684;p21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5" name="Google Shape;685;p21"/>
          <p:cNvSpPr/>
          <p:nvPr/>
        </p:nvSpPr>
        <p:spPr>
          <a:xfrm>
            <a:off x="731520" y="1810512"/>
            <a:ext cx="11109960" cy="50292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rx 1-&gt;0  시  idle -&gt; start 로 state 변화</a:t>
            </a:r>
            <a:endParaRPr b="1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6" name="Google Shape;6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200" y="2380600"/>
            <a:ext cx="6513074" cy="38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39648" y="2422773"/>
            <a:ext cx="4682025" cy="16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87625" y="4848425"/>
            <a:ext cx="3280700" cy="16716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89" name="Google Shape;689;p21"/>
          <p:cNvGraphicFramePr/>
          <p:nvPr/>
        </p:nvGraphicFramePr>
        <p:xfrm>
          <a:off x="7139650" y="4344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{60678A94-BCEC-4059-AE5D-A8028761868B}</a:tableStyleId>
              </a:tblPr>
              <a:tblGrid>
                <a:gridCol w="714575"/>
                <a:gridCol w="4593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/>
                        <a:t>state</a:t>
                      </a:r>
                      <a:endParaRPr b="1" sz="11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IDEL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00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START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01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DATA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10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STOP</a:t>
                      </a:r>
                      <a:endParaRPr b="1" sz="1200" u="none" cap="none" strike="noStrike"/>
                    </a:p>
                  </a:txBody>
                  <a:tcPr marT="91425" marB="91425" marR="91425" marL="57150">
                    <a:solidFill>
                      <a:srgbClr val="F1F5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n-US" sz="1200" u="none" cap="none" strike="noStrike"/>
                        <a:t>11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F1F5FF"/>
                    </a:solidFill>
                  </a:tcPr>
                </a:tc>
              </a:tr>
            </a:tbl>
          </a:graphicData>
        </a:graphic>
      </p:graphicFrame>
      <p:sp>
        <p:nvSpPr>
          <p:cNvPr id="690" name="Google Shape;690;p21"/>
          <p:cNvSpPr/>
          <p:nvPr/>
        </p:nvSpPr>
        <p:spPr>
          <a:xfrm>
            <a:off x="3171000" y="3554650"/>
            <a:ext cx="272100" cy="31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1" name="Google Shape;691;p21"/>
          <p:cNvCxnSpPr>
            <a:stCxn id="690" idx="3"/>
          </p:cNvCxnSpPr>
          <p:nvPr/>
        </p:nvCxnSpPr>
        <p:spPr>
          <a:xfrm>
            <a:off x="3443100" y="3711850"/>
            <a:ext cx="314400" cy="395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2" name="Google Shape;692;p21"/>
          <p:cNvSpPr txBox="1"/>
          <p:nvPr/>
        </p:nvSpPr>
        <p:spPr>
          <a:xfrm>
            <a:off x="3604400" y="3206225"/>
            <a:ext cx="1105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IDLE일때</a:t>
            </a:r>
            <a:endParaRPr b="0" i="0" sz="1600" u="none" cap="none" strike="noStrike">
              <a:solidFill>
                <a:srgbClr val="141413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rx 1-&gt; 0</a:t>
            </a:r>
            <a:endParaRPr b="0" i="0" sz="1600" u="none" cap="none" strike="noStrike">
              <a:solidFill>
                <a:srgbClr val="141413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1"/>
          <p:cNvSpPr txBox="1"/>
          <p:nvPr/>
        </p:nvSpPr>
        <p:spPr>
          <a:xfrm>
            <a:off x="4149400" y="4344850"/>
            <a:ext cx="17874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IDLE -&gt; START</a:t>
            </a:r>
            <a:endParaRPr b="0" i="0" sz="1600" u="none" cap="none" strike="noStrike">
              <a:solidFill>
                <a:srgbClr val="141413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3817400" y="4030450"/>
            <a:ext cx="407400" cy="620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5" name="Google Shape;695;p21"/>
          <p:cNvCxnSpPr/>
          <p:nvPr/>
        </p:nvCxnSpPr>
        <p:spPr>
          <a:xfrm>
            <a:off x="10370300" y="2942875"/>
            <a:ext cx="2400" cy="9027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96" name="Google Shape;696;p21"/>
          <p:cNvSpPr txBox="1"/>
          <p:nvPr/>
        </p:nvSpPr>
        <p:spPr>
          <a:xfrm>
            <a:off x="8673000" y="4161200"/>
            <a:ext cx="36828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순차 회로</a:t>
            </a:r>
            <a:endParaRPr b="0" i="0" sz="1600" u="none" cap="none" strike="noStrike">
              <a:solidFill>
                <a:srgbClr val="141413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rPr>
              <a:t>-&gt; 다음 clk의 상승 엣지에 변화</a:t>
            </a:r>
            <a:endParaRPr b="0" i="0" sz="1600" u="none" cap="none" strike="noStrike">
              <a:solidFill>
                <a:srgbClr val="141413"/>
              </a:solidFill>
              <a:highlight>
                <a:srgbClr val="FFF2CC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7" name="Google Shape;697;p21"/>
          <p:cNvCxnSpPr/>
          <p:nvPr/>
        </p:nvCxnSpPr>
        <p:spPr>
          <a:xfrm flipH="1">
            <a:off x="9771650" y="3845575"/>
            <a:ext cx="984600" cy="457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8" name="Google Shape;698;p21"/>
          <p:cNvSpPr/>
          <p:nvPr/>
        </p:nvSpPr>
        <p:spPr>
          <a:xfrm>
            <a:off x="8767350" y="5374025"/>
            <a:ext cx="2152500" cy="314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9" name="Google Shape;699;p21"/>
          <p:cNvGrpSpPr/>
          <p:nvPr/>
        </p:nvGrpSpPr>
        <p:grpSpPr>
          <a:xfrm>
            <a:off x="6968625" y="1820175"/>
            <a:ext cx="3545925" cy="483600"/>
            <a:chOff x="6968625" y="1820175"/>
            <a:chExt cx="3545925" cy="483600"/>
          </a:xfrm>
        </p:grpSpPr>
        <p:sp>
          <p:nvSpPr>
            <p:cNvPr id="700" name="Google Shape;700;p21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21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h2e31e1e379926e44_0_192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707" name="Google Shape;707;h2e31e1e379926e44_0_192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h2e31e1e379926e44_0_192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RX 검증 결과</a:t>
            </a:r>
            <a:endParaRPr sz="3400"/>
          </a:p>
        </p:txBody>
      </p:sp>
      <p:cxnSp>
        <p:nvCxnSpPr>
          <p:cNvPr id="709" name="Google Shape;709;h2e31e1e379926e44_0_192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h2e31e1e379926e44_0_192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8 tick 후 START -&gt; DATA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1" name="Google Shape;711;h2e31e1e379926e44_0_1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2" y="2490972"/>
            <a:ext cx="8642225" cy="2504475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h2e31e1e379926e44_0_192"/>
          <p:cNvSpPr/>
          <p:nvPr/>
        </p:nvSpPr>
        <p:spPr>
          <a:xfrm>
            <a:off x="650825" y="5320250"/>
            <a:ext cx="3336900" cy="37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h2e31e1e379926e44_0_192"/>
          <p:cNvSpPr/>
          <p:nvPr/>
        </p:nvSpPr>
        <p:spPr>
          <a:xfrm>
            <a:off x="3987725" y="5320250"/>
            <a:ext cx="3336900" cy="37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data[0]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h2e31e1e379926e44_0_192"/>
          <p:cNvSpPr/>
          <p:nvPr/>
        </p:nvSpPr>
        <p:spPr>
          <a:xfrm>
            <a:off x="650825" y="5737350"/>
            <a:ext cx="1636200" cy="16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8tick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h2e31e1e379926e44_0_192"/>
          <p:cNvSpPr/>
          <p:nvPr/>
        </p:nvSpPr>
        <p:spPr>
          <a:xfrm>
            <a:off x="2287025" y="5737350"/>
            <a:ext cx="3336900" cy="160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16tick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h2e31e1e379926e44_0_192"/>
          <p:cNvSpPr txBox="1"/>
          <p:nvPr/>
        </p:nvSpPr>
        <p:spPr>
          <a:xfrm>
            <a:off x="4394600" y="5988125"/>
            <a:ext cx="26259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data[0]에서 중간 타이밍에 데이터 읽기 위함</a:t>
            </a:r>
            <a:endParaRPr b="0" i="0" sz="1600" u="none" cap="none" strike="noStrike">
              <a:solidFill>
                <a:srgbClr val="1414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h2e31e1e379926e44_0_192"/>
          <p:cNvSpPr txBox="1"/>
          <p:nvPr/>
        </p:nvSpPr>
        <p:spPr>
          <a:xfrm>
            <a:off x="3873750" y="6986625"/>
            <a:ext cx="7213800" cy="163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"반 비트(8 tick)를 기다려 중앙을 찾도록 </a:t>
            </a:r>
            <a:r>
              <a:rPr b="0" i="0" lang="en-US" sz="1100" u="none" cap="none" strike="noStrike">
                <a:solidFill>
                  <a:srgbClr val="188038"/>
                </a:solidFill>
                <a:latin typeface="Arial"/>
                <a:ea typeface="Arial"/>
                <a:cs typeface="Arial"/>
                <a:sym typeface="Arial"/>
              </a:rPr>
              <a:t>== 7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을 사용했고, 감지 지연 때문에 실제로는 50 ~ 56% 지점에서 읽습니다. 이때 감지 지연은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수신기가 rx를 매 클럭이 아니라 b_tick(6.51 µs 간격)이 뜰 때만 확인하기 때문에, rx가 떨어진 순간부터 다음 b_tick이 올 때까지(0 ~ 1 tick) 하강을 알아채지 못해서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일어납니다."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발표에서 말로 풀어야 하면 한 문장을 덧붙이면 됩니다.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PC와 FPGA는 클럭을 공유하지 않아서 rx가 b_tick 사이 어디에서 떨어질지 알 수 없고, 그래서 감지 지연은 매 프레임 0 ~ 1 tick 사이에서 달라집니다.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8" name="Google Shape;718;h2e31e1e379926e44_0_192"/>
          <p:cNvGrpSpPr/>
          <p:nvPr/>
        </p:nvGrpSpPr>
        <p:grpSpPr>
          <a:xfrm>
            <a:off x="2688300" y="3194350"/>
            <a:ext cx="3723000" cy="620400"/>
            <a:chOff x="2688300" y="3194350"/>
            <a:chExt cx="3723000" cy="620400"/>
          </a:xfrm>
        </p:grpSpPr>
        <p:sp>
          <p:nvSpPr>
            <p:cNvPr id="719" name="Google Shape;719;h2e31e1e379926e44_0_192"/>
            <p:cNvSpPr/>
            <p:nvPr/>
          </p:nvSpPr>
          <p:spPr>
            <a:xfrm>
              <a:off x="2688300" y="3554650"/>
              <a:ext cx="3723000" cy="2601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h2e31e1e379926e44_0_192"/>
            <p:cNvSpPr txBox="1"/>
            <p:nvPr/>
          </p:nvSpPr>
          <p:spPr>
            <a:xfrm>
              <a:off x="3996900" y="3194350"/>
              <a:ext cx="7911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4141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8tick</a:t>
              </a:r>
              <a:endParaRPr b="0" i="0" sz="16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21" name="Google Shape;721;h2e31e1e379926e44_0_192"/>
          <p:cNvGrpSpPr/>
          <p:nvPr/>
        </p:nvGrpSpPr>
        <p:grpSpPr>
          <a:xfrm>
            <a:off x="7911100" y="1782025"/>
            <a:ext cx="3545925" cy="483600"/>
            <a:chOff x="6968625" y="1820175"/>
            <a:chExt cx="3545925" cy="483600"/>
          </a:xfrm>
        </p:grpSpPr>
        <p:sp>
          <p:nvSpPr>
            <p:cNvPr id="722" name="Google Shape;722;h2e31e1e379926e44_0_192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h2e31e1e379926e44_0_192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24" name="Google Shape;724;h2e31e1e379926e44_0_192"/>
          <p:cNvCxnSpPr/>
          <p:nvPr/>
        </p:nvCxnSpPr>
        <p:spPr>
          <a:xfrm flipH="1" rot="10800000">
            <a:off x="5628975" y="5287400"/>
            <a:ext cx="7800" cy="77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h2e31e1e379926e44_0_289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730" name="Google Shape;730;h2e31e1e379926e44_0_289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h2e31e1e379926e44_0_289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RX 검증 결과</a:t>
            </a:r>
            <a:endParaRPr sz="3400"/>
          </a:p>
        </p:txBody>
      </p:sp>
      <p:cxnSp>
        <p:nvCxnSpPr>
          <p:cNvPr id="732" name="Google Shape;732;h2e31e1e379926e44_0_289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3" name="Google Shape;733;h2e31e1e379926e44_0_289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16 tick 간격 | 16tick = buad time | data shift 정상 작동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h2e31e1e379926e44_0_289"/>
          <p:cNvSpPr/>
          <p:nvPr/>
        </p:nvSpPr>
        <p:spPr>
          <a:xfrm>
            <a:off x="3614205" y="3774150"/>
            <a:ext cx="3253200" cy="260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h2e31e1e379926e44_0_289"/>
          <p:cNvSpPr/>
          <p:nvPr/>
        </p:nvSpPr>
        <p:spPr>
          <a:xfrm>
            <a:off x="6867405" y="3774150"/>
            <a:ext cx="3253200" cy="260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6" name="Google Shape;736;h2e31e1e379926e44_0_289"/>
          <p:cNvGrpSpPr/>
          <p:nvPr/>
        </p:nvGrpSpPr>
        <p:grpSpPr>
          <a:xfrm>
            <a:off x="159925" y="2490966"/>
            <a:ext cx="12192001" cy="2561768"/>
            <a:chOff x="159925" y="2818166"/>
            <a:chExt cx="12192001" cy="2561768"/>
          </a:xfrm>
        </p:grpSpPr>
        <p:pic>
          <p:nvPicPr>
            <p:cNvPr id="737" name="Google Shape;737;h2e31e1e379926e44_0_289"/>
            <p:cNvPicPr preferRelativeResize="0"/>
            <p:nvPr/>
          </p:nvPicPr>
          <p:blipFill rotWithShape="1">
            <a:blip r:embed="rId3">
              <a:alphaModFix/>
            </a:blip>
            <a:srcRect b="0" l="0" r="-5608" t="0"/>
            <a:stretch/>
          </p:blipFill>
          <p:spPr>
            <a:xfrm>
              <a:off x="159925" y="2818166"/>
              <a:ext cx="12192001" cy="25617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8" name="Google Shape;738;h2e31e1e379926e44_0_289"/>
            <p:cNvSpPr/>
            <p:nvPr/>
          </p:nvSpPr>
          <p:spPr>
            <a:xfrm>
              <a:off x="6358750" y="4975675"/>
              <a:ext cx="790500" cy="2601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h2e31e1e379926e44_0_289"/>
            <p:cNvSpPr txBox="1"/>
            <p:nvPr/>
          </p:nvSpPr>
          <p:spPr>
            <a:xfrm>
              <a:off x="7201476" y="4864900"/>
              <a:ext cx="28047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41413"/>
                  </a:solidFill>
                  <a:highlight>
                    <a:srgbClr val="FFF2CC"/>
                  </a:highlight>
                  <a:latin typeface="Arial"/>
                  <a:ea typeface="Arial"/>
                  <a:cs typeface="Arial"/>
                  <a:sym typeface="Arial"/>
                </a:rPr>
                <a:t>16tick = 10416=100M/9600</a:t>
              </a:r>
              <a:endParaRPr b="0" i="0" sz="1600" u="none" cap="none" strike="noStrike">
                <a:solidFill>
                  <a:srgbClr val="141413"/>
                </a:solidFill>
                <a:highlight>
                  <a:srgbClr val="FFF2CC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h2e31e1e379926e44_0_289"/>
            <p:cNvSpPr txBox="1"/>
            <p:nvPr/>
          </p:nvSpPr>
          <p:spPr>
            <a:xfrm>
              <a:off x="6125026" y="3101100"/>
              <a:ext cx="10443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41413"/>
                  </a:solidFill>
                  <a:highlight>
                    <a:srgbClr val="FFFF00"/>
                  </a:highlight>
                  <a:latin typeface="Arial"/>
                  <a:ea typeface="Arial"/>
                  <a:cs typeface="Arial"/>
                  <a:sym typeface="Arial"/>
                </a:rPr>
                <a:t>rx 값확인</a:t>
              </a:r>
              <a:endParaRPr b="0" i="0" sz="16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h2e31e1e379926e44_0_289"/>
            <p:cNvSpPr txBox="1"/>
            <p:nvPr/>
          </p:nvSpPr>
          <p:spPr>
            <a:xfrm>
              <a:off x="9257301" y="3069675"/>
              <a:ext cx="1044300" cy="42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141413"/>
                  </a:solidFill>
                  <a:highlight>
                    <a:srgbClr val="FFFF00"/>
                  </a:highlight>
                  <a:latin typeface="Arial"/>
                  <a:ea typeface="Arial"/>
                  <a:cs typeface="Arial"/>
                  <a:sym typeface="Arial"/>
                </a:rPr>
                <a:t>rx 값확인</a:t>
              </a:r>
              <a:endParaRPr b="0" i="0" sz="16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2" name="Google Shape;742;h2e31e1e379926e44_0_289"/>
            <p:cNvCxnSpPr/>
            <p:nvPr/>
          </p:nvCxnSpPr>
          <p:spPr>
            <a:xfrm flipH="1" rot="10800000">
              <a:off x="6527500" y="3672300"/>
              <a:ext cx="5700" cy="1000800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lgDash"/>
              <a:round/>
              <a:headEnd len="sm" w="sm" type="none"/>
              <a:tailEnd len="med" w="med" type="triangle"/>
            </a:ln>
          </p:spPr>
        </p:cxnSp>
        <p:cxnSp>
          <p:nvCxnSpPr>
            <p:cNvPr id="743" name="Google Shape;743;h2e31e1e379926e44_0_289"/>
            <p:cNvCxnSpPr/>
            <p:nvPr/>
          </p:nvCxnSpPr>
          <p:spPr>
            <a:xfrm flipH="1" rot="10800000">
              <a:off x="9648875" y="3653100"/>
              <a:ext cx="300" cy="1020000"/>
            </a:xfrm>
            <a:prstGeom prst="straightConnector1">
              <a:avLst/>
            </a:prstGeom>
            <a:noFill/>
            <a:ln cap="flat" cmpd="sng" w="38100">
              <a:solidFill>
                <a:srgbClr val="FFFF00"/>
              </a:solidFill>
              <a:prstDash val="lgDash"/>
              <a:round/>
              <a:headEnd len="sm" w="sm" type="none"/>
              <a:tailEnd len="med" w="med" type="triangle"/>
            </a:ln>
          </p:spPr>
        </p:cxnSp>
      </p:grpSp>
      <p:pic>
        <p:nvPicPr>
          <p:cNvPr id="744" name="Google Shape;744;h2e31e1e379926e44_0_289"/>
          <p:cNvPicPr preferRelativeResize="0"/>
          <p:nvPr/>
        </p:nvPicPr>
        <p:blipFill rotWithShape="1">
          <a:blip r:embed="rId4">
            <a:alphaModFix/>
          </a:blip>
          <a:srcRect b="20369" l="0" r="0" t="0"/>
          <a:stretch/>
        </p:blipFill>
        <p:spPr>
          <a:xfrm>
            <a:off x="493650" y="7150050"/>
            <a:ext cx="4262726" cy="2801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5" name="Google Shape;745;h2e31e1e379926e44_0_289"/>
          <p:cNvCxnSpPr/>
          <p:nvPr/>
        </p:nvCxnSpPr>
        <p:spPr>
          <a:xfrm flipH="1" rot="10800000">
            <a:off x="3430950" y="4567825"/>
            <a:ext cx="3076800" cy="75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h2e31e1e379926e44_0_289"/>
          <p:cNvCxnSpPr/>
          <p:nvPr/>
        </p:nvCxnSpPr>
        <p:spPr>
          <a:xfrm flipH="1">
            <a:off x="3444325" y="4467550"/>
            <a:ext cx="116700" cy="1083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h2e31e1e379926e44_0_289"/>
          <p:cNvCxnSpPr/>
          <p:nvPr/>
        </p:nvCxnSpPr>
        <p:spPr>
          <a:xfrm rot="10800000">
            <a:off x="3444350" y="4577525"/>
            <a:ext cx="105900" cy="1071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h2e31e1e379926e44_0_289"/>
          <p:cNvCxnSpPr/>
          <p:nvPr/>
        </p:nvCxnSpPr>
        <p:spPr>
          <a:xfrm flipH="1" rot="10800000">
            <a:off x="6413000" y="4560550"/>
            <a:ext cx="116700" cy="1083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9" name="Google Shape;749;h2e31e1e379926e44_0_289"/>
          <p:cNvCxnSpPr/>
          <p:nvPr/>
        </p:nvCxnSpPr>
        <p:spPr>
          <a:xfrm>
            <a:off x="6423775" y="4451775"/>
            <a:ext cx="105900" cy="1071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0" name="Google Shape;750;h2e31e1e379926e44_0_289"/>
          <p:cNvCxnSpPr>
            <a:endCxn id="738" idx="1"/>
          </p:cNvCxnSpPr>
          <p:nvPr/>
        </p:nvCxnSpPr>
        <p:spPr>
          <a:xfrm>
            <a:off x="5199250" y="4595825"/>
            <a:ext cx="1159500" cy="182700"/>
          </a:xfrm>
          <a:prstGeom prst="straightConnector1">
            <a:avLst/>
          </a:prstGeom>
          <a:noFill/>
          <a:ln cap="flat" cmpd="sng" w="28575">
            <a:solidFill>
              <a:srgbClr val="FFF2C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1" name="Google Shape;751;h2e31e1e379926e44_0_289"/>
          <p:cNvSpPr txBox="1"/>
          <p:nvPr/>
        </p:nvSpPr>
        <p:spPr>
          <a:xfrm>
            <a:off x="6243026" y="3083863"/>
            <a:ext cx="104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rx = 1</a:t>
            </a:r>
            <a:endParaRPr b="0" i="0" sz="12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h2e31e1e379926e44_0_289"/>
          <p:cNvSpPr txBox="1"/>
          <p:nvPr/>
        </p:nvSpPr>
        <p:spPr>
          <a:xfrm>
            <a:off x="9347176" y="3024888"/>
            <a:ext cx="104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rx = 0</a:t>
            </a:r>
            <a:endParaRPr b="0" i="0" sz="12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3" name="Google Shape;753;h2e31e1e379926e44_0_289"/>
          <p:cNvPicPr preferRelativeResize="0"/>
          <p:nvPr/>
        </p:nvPicPr>
        <p:blipFill rotWithShape="1">
          <a:blip r:embed="rId5">
            <a:alphaModFix/>
          </a:blip>
          <a:srcRect b="10883" l="-9867" r="7722" t="25918"/>
          <a:stretch/>
        </p:blipFill>
        <p:spPr>
          <a:xfrm>
            <a:off x="8184425" y="3955600"/>
            <a:ext cx="709625" cy="15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4" name="Google Shape;754;h2e31e1e379926e44_0_289"/>
          <p:cNvPicPr preferRelativeResize="0"/>
          <p:nvPr/>
        </p:nvPicPr>
        <p:blipFill rotWithShape="1">
          <a:blip r:embed="rId6">
            <a:alphaModFix/>
          </a:blip>
          <a:srcRect b="21418" l="7592" r="5542" t="23733"/>
          <a:stretch/>
        </p:blipFill>
        <p:spPr>
          <a:xfrm>
            <a:off x="10109425" y="3969763"/>
            <a:ext cx="578375" cy="1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h2e31e1e379926e44_0_289"/>
          <p:cNvSpPr/>
          <p:nvPr/>
        </p:nvSpPr>
        <p:spPr>
          <a:xfrm>
            <a:off x="7941100" y="3903475"/>
            <a:ext cx="1016700" cy="260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h2e31e1e379926e44_0_289"/>
          <p:cNvSpPr/>
          <p:nvPr/>
        </p:nvSpPr>
        <p:spPr>
          <a:xfrm>
            <a:off x="10084850" y="3889125"/>
            <a:ext cx="1016700" cy="2601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7" name="Google Shape;757;h2e31e1e379926e44_0_289"/>
          <p:cNvGrpSpPr/>
          <p:nvPr/>
        </p:nvGrpSpPr>
        <p:grpSpPr>
          <a:xfrm>
            <a:off x="8475573" y="1820100"/>
            <a:ext cx="3311185" cy="483600"/>
            <a:chOff x="6968625" y="1820175"/>
            <a:chExt cx="3545925" cy="483600"/>
          </a:xfrm>
        </p:grpSpPr>
        <p:sp>
          <p:nvSpPr>
            <p:cNvPr id="758" name="Google Shape;758;h2e31e1e379926e44_0_289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h2e31e1e379926e44_0_289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h2e31e1e379926e44_0_258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765" name="Google Shape;765;h2e31e1e379926e44_0_258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h2e31e1e379926e44_0_258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RX 검증 결과</a:t>
            </a:r>
            <a:endParaRPr sz="3400"/>
          </a:p>
        </p:txBody>
      </p:sp>
      <p:cxnSp>
        <p:nvCxnSpPr>
          <p:cNvPr id="767" name="Google Shape;767;h2e31e1e379926e44_0_258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8" name="Google Shape;768;h2e31e1e379926e44_0_258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 bit_cnt = 7 &amp; b_tick_cnt = 15 시 STOP 진입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h2e31e1e379926e44_0_258"/>
          <p:cNvSpPr/>
          <p:nvPr/>
        </p:nvSpPr>
        <p:spPr>
          <a:xfrm>
            <a:off x="731520" y="2468880"/>
            <a:ext cx="11109900" cy="3886200"/>
          </a:xfrm>
          <a:prstGeom prst="roundRect">
            <a:avLst>
              <a:gd fmla="val 3000" name="adj"/>
            </a:avLst>
          </a:prstGeom>
          <a:solidFill>
            <a:srgbClr val="FBFCFF"/>
          </a:solidFill>
          <a:ln cap="flat" cmpd="sng" w="12700">
            <a:solidFill>
              <a:srgbClr val="B8C9F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파형 캡처 삽입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0" name="Google Shape;770;h2e31e1e379926e44_0_2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900" y="2490963"/>
            <a:ext cx="9372600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h2e31e1e379926e44_0_258"/>
          <p:cNvSpPr txBox="1"/>
          <p:nvPr/>
        </p:nvSpPr>
        <p:spPr>
          <a:xfrm>
            <a:off x="5200525" y="5090150"/>
            <a:ext cx="16971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b_tick_cnt = 15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h2e31e1e379926e44_0_258"/>
          <p:cNvSpPr txBox="1"/>
          <p:nvPr/>
        </p:nvSpPr>
        <p:spPr>
          <a:xfrm>
            <a:off x="6433275" y="5535900"/>
            <a:ext cx="16971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bit_cnt = 7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h2e31e1e379926e44_0_258"/>
          <p:cNvSpPr txBox="1"/>
          <p:nvPr/>
        </p:nvSpPr>
        <p:spPr>
          <a:xfrm>
            <a:off x="6125425" y="5407725"/>
            <a:ext cx="5253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&amp;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h2e31e1e379926e44_0_258"/>
          <p:cNvSpPr txBox="1"/>
          <p:nvPr/>
        </p:nvSpPr>
        <p:spPr>
          <a:xfrm>
            <a:off x="7388175" y="4398725"/>
            <a:ext cx="1697100" cy="4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DATA -&gt; STOP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h2e31e1e379926e44_0_258"/>
          <p:cNvSpPr/>
          <p:nvPr/>
        </p:nvSpPr>
        <p:spPr>
          <a:xfrm rot="-2700000">
            <a:off x="6977018" y="4875818"/>
            <a:ext cx="741614" cy="422991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6" name="Google Shape;776;h2e31e1e379926e44_0_258"/>
          <p:cNvGrpSpPr/>
          <p:nvPr/>
        </p:nvGrpSpPr>
        <p:grpSpPr>
          <a:xfrm>
            <a:off x="7318375" y="1809050"/>
            <a:ext cx="3545925" cy="483600"/>
            <a:chOff x="6968625" y="1820175"/>
            <a:chExt cx="3545925" cy="483600"/>
          </a:xfrm>
        </p:grpSpPr>
        <p:sp>
          <p:nvSpPr>
            <p:cNvPr id="777" name="Google Shape;777;h2e31e1e379926e44_0_258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h2e31e1e379926e44_0_258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h2e31e1e379926e44_0_204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784" name="Google Shape;784;h2e31e1e379926e44_0_204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h2e31e1e379926e44_0_204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RX 검증 결과</a:t>
            </a:r>
            <a:endParaRPr sz="3400"/>
          </a:p>
        </p:txBody>
      </p:sp>
      <p:cxnSp>
        <p:nvCxnSpPr>
          <p:cNvPr id="786" name="Google Shape;786;h2e31e1e379926e44_0_204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7" name="Google Shape;787;h2e31e1e379926e44_0_204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입력: 0101_0101 수신: 0101_0101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h2e31e1e379926e44_0_204"/>
          <p:cNvSpPr/>
          <p:nvPr/>
        </p:nvSpPr>
        <p:spPr>
          <a:xfrm>
            <a:off x="731520" y="2468880"/>
            <a:ext cx="11109900" cy="3886200"/>
          </a:xfrm>
          <a:prstGeom prst="roundRect">
            <a:avLst>
              <a:gd fmla="val 3000" name="adj"/>
            </a:avLst>
          </a:prstGeom>
          <a:solidFill>
            <a:srgbClr val="FBFCFF"/>
          </a:solidFill>
          <a:ln cap="flat" cmpd="sng" w="12700">
            <a:solidFill>
              <a:srgbClr val="B8C9F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AA0AE"/>
                </a:solidFill>
                <a:latin typeface="Arial"/>
                <a:ea typeface="Arial"/>
                <a:cs typeface="Arial"/>
                <a:sym typeface="Arial"/>
              </a:rPr>
              <a:t>파형 캡처 삽입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9" name="Google Shape;789;h2e31e1e379926e44_0_2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900" y="2490975"/>
            <a:ext cx="9696450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h2e31e1e379926e44_0_204"/>
          <p:cNvSpPr txBox="1"/>
          <p:nvPr/>
        </p:nvSpPr>
        <p:spPr>
          <a:xfrm>
            <a:off x="4018401" y="3166974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h2e31e1e379926e44_0_204"/>
          <p:cNvSpPr txBox="1"/>
          <p:nvPr/>
        </p:nvSpPr>
        <p:spPr>
          <a:xfrm>
            <a:off x="4989051" y="3166974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h2e31e1e379926e44_0_204"/>
          <p:cNvSpPr txBox="1"/>
          <p:nvPr/>
        </p:nvSpPr>
        <p:spPr>
          <a:xfrm>
            <a:off x="5991651" y="3166974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h2e31e1e379926e44_0_204"/>
          <p:cNvSpPr txBox="1"/>
          <p:nvPr/>
        </p:nvSpPr>
        <p:spPr>
          <a:xfrm>
            <a:off x="6994251" y="3166974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h2e31e1e379926e44_0_204"/>
          <p:cNvSpPr txBox="1"/>
          <p:nvPr/>
        </p:nvSpPr>
        <p:spPr>
          <a:xfrm>
            <a:off x="4503726" y="3344949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h2e31e1e379926e44_0_204"/>
          <p:cNvSpPr txBox="1"/>
          <p:nvPr/>
        </p:nvSpPr>
        <p:spPr>
          <a:xfrm>
            <a:off x="5506326" y="3344949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h2e31e1e379926e44_0_204"/>
          <p:cNvSpPr txBox="1"/>
          <p:nvPr/>
        </p:nvSpPr>
        <p:spPr>
          <a:xfrm>
            <a:off x="6476976" y="3344949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h2e31e1e379926e44_0_204"/>
          <p:cNvSpPr txBox="1"/>
          <p:nvPr/>
        </p:nvSpPr>
        <p:spPr>
          <a:xfrm>
            <a:off x="7447626" y="3344949"/>
            <a:ext cx="354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h2e31e1e379926e44_0_204"/>
          <p:cNvSpPr/>
          <p:nvPr/>
        </p:nvSpPr>
        <p:spPr>
          <a:xfrm>
            <a:off x="8969900" y="4630700"/>
            <a:ext cx="1753200" cy="3369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9" name="Google Shape;799;h2e31e1e379926e44_0_204"/>
          <p:cNvPicPr preferRelativeResize="0"/>
          <p:nvPr/>
        </p:nvPicPr>
        <p:blipFill rotWithShape="1">
          <a:blip r:embed="rId4">
            <a:alphaModFix/>
          </a:blip>
          <a:srcRect b="24018" l="5933" r="8333" t="0"/>
          <a:stretch/>
        </p:blipFill>
        <p:spPr>
          <a:xfrm>
            <a:off x="9769775" y="4671100"/>
            <a:ext cx="897300" cy="2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h2e31e1e379926e44_0_204"/>
          <p:cNvSpPr/>
          <p:nvPr/>
        </p:nvSpPr>
        <p:spPr>
          <a:xfrm rot="2114339">
            <a:off x="7913232" y="3799249"/>
            <a:ext cx="1197425" cy="422997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1" name="Google Shape;801;h2e31e1e379926e44_0_204"/>
          <p:cNvGrpSpPr/>
          <p:nvPr/>
        </p:nvGrpSpPr>
        <p:grpSpPr>
          <a:xfrm>
            <a:off x="6968625" y="1820175"/>
            <a:ext cx="3545925" cy="483600"/>
            <a:chOff x="6968625" y="1820175"/>
            <a:chExt cx="3545925" cy="483600"/>
          </a:xfrm>
        </p:grpSpPr>
        <p:sp>
          <p:nvSpPr>
            <p:cNvPr id="802" name="Google Shape;802;h2e31e1e379926e44_0_204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h2e31e1e379926e44_0_204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h2e31e1e379926e44_0_224"/>
          <p:cNvSpPr txBox="1"/>
          <p:nvPr>
            <p:ph type="title"/>
          </p:nvPr>
        </p:nvSpPr>
        <p:spPr>
          <a:xfrm>
            <a:off x="568794" y="158625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809" name="Google Shape;809;h2e31e1e379926e44_0_224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h2e31e1e379926e44_0_224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fifo 검증 결과</a:t>
            </a:r>
            <a:endParaRPr sz="3400"/>
          </a:p>
        </p:txBody>
      </p:sp>
      <p:cxnSp>
        <p:nvCxnSpPr>
          <p:cNvPr id="811" name="Google Shape;811;h2e31e1e379926e44_0_224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2" name="Google Shape;812;h2e31e1e379926e44_0_224"/>
          <p:cNvSpPr/>
          <p:nvPr/>
        </p:nvSpPr>
        <p:spPr>
          <a:xfrm>
            <a:off x="731525" y="1810500"/>
            <a:ext cx="5430000" cy="10470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데이터 rx -&gt; rx fifo -&gt; tx fifo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h2e31e1e379926e44_0_224"/>
          <p:cNvSpPr txBox="1"/>
          <p:nvPr/>
        </p:nvSpPr>
        <p:spPr>
          <a:xfrm>
            <a:off x="8732520" y="1810512"/>
            <a:ext cx="297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RX-1 · RX-2 · RX-3 · RX-4 · RX-5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4" name="Google Shape;814;h2e31e1e379926e44_0_2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510" y="0"/>
            <a:ext cx="5857479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15" name="Google Shape;815;h2e31e1e379926e44_0_224"/>
          <p:cNvCxnSpPr/>
          <p:nvPr/>
        </p:nvCxnSpPr>
        <p:spPr>
          <a:xfrm>
            <a:off x="9304325" y="382975"/>
            <a:ext cx="2100" cy="2323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16" name="Google Shape;816;h2e31e1e379926e44_0_224"/>
          <p:cNvSpPr/>
          <p:nvPr/>
        </p:nvSpPr>
        <p:spPr>
          <a:xfrm rot="5402755">
            <a:off x="9435181" y="2318625"/>
            <a:ext cx="374400" cy="21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h2e31e1e379926e44_0_224"/>
          <p:cNvCxnSpPr/>
          <p:nvPr/>
        </p:nvCxnSpPr>
        <p:spPr>
          <a:xfrm>
            <a:off x="9938325" y="382975"/>
            <a:ext cx="0" cy="377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18" name="Google Shape;818;h2e31e1e379926e44_0_224"/>
          <p:cNvSpPr/>
          <p:nvPr/>
        </p:nvSpPr>
        <p:spPr>
          <a:xfrm rot="2884790">
            <a:off x="9653731" y="2854692"/>
            <a:ext cx="438261" cy="21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h2e31e1e379926e44_0_224"/>
          <p:cNvSpPr/>
          <p:nvPr/>
        </p:nvSpPr>
        <p:spPr>
          <a:xfrm rot="5402392">
            <a:off x="9741925" y="4044725"/>
            <a:ext cx="1293600" cy="21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h2e31e1e379926e44_0_224"/>
          <p:cNvSpPr/>
          <p:nvPr/>
        </p:nvSpPr>
        <p:spPr>
          <a:xfrm rot="2980523">
            <a:off x="10483790" y="5060227"/>
            <a:ext cx="377366" cy="209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1" name="Google Shape;821;h2e31e1e379926e44_0_224"/>
          <p:cNvGrpSpPr/>
          <p:nvPr/>
        </p:nvGrpSpPr>
        <p:grpSpPr>
          <a:xfrm>
            <a:off x="1737300" y="2624325"/>
            <a:ext cx="3545925" cy="483600"/>
            <a:chOff x="6968625" y="1820175"/>
            <a:chExt cx="3545925" cy="483600"/>
          </a:xfrm>
        </p:grpSpPr>
        <p:sp>
          <p:nvSpPr>
            <p:cNvPr id="822" name="Google Shape;822;h2e31e1e379926e44_0_224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h2e31e1e379926e44_0_224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24" name="Google Shape;824;h2e31e1e379926e44_0_224"/>
          <p:cNvPicPr preferRelativeResize="0"/>
          <p:nvPr/>
        </p:nvPicPr>
        <p:blipFill rotWithShape="1">
          <a:blip r:embed="rId4">
            <a:alphaModFix/>
          </a:blip>
          <a:srcRect b="0" l="13725" r="26157" t="0"/>
          <a:stretch/>
        </p:blipFill>
        <p:spPr>
          <a:xfrm>
            <a:off x="690175" y="3238596"/>
            <a:ext cx="5311774" cy="3420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h2e31e1e379926e44_0_224"/>
          <p:cNvSpPr/>
          <p:nvPr/>
        </p:nvSpPr>
        <p:spPr>
          <a:xfrm rot="2566">
            <a:off x="1147881" y="4413125"/>
            <a:ext cx="1607700" cy="37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>
              <a:alpha val="37255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h2e31e1e379926e44_0_224"/>
          <p:cNvSpPr/>
          <p:nvPr/>
        </p:nvSpPr>
        <p:spPr>
          <a:xfrm rot="2566">
            <a:off x="3256306" y="4422725"/>
            <a:ext cx="1607700" cy="37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>
              <a:alpha val="41176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h2e31e1e379926e44_0_224"/>
          <p:cNvSpPr txBox="1"/>
          <p:nvPr/>
        </p:nvSpPr>
        <p:spPr>
          <a:xfrm>
            <a:off x="4380475" y="5191625"/>
            <a:ext cx="22392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full = 0 =&gt; pop은 계속 1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h2e31e1e379926e44_0_234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833" name="Google Shape;833;h2e31e1e379926e44_0_234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4" name="Google Shape;834;h2e31e1e379926e44_0_234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fifo검증 결과</a:t>
            </a:r>
            <a:endParaRPr sz="3400"/>
          </a:p>
        </p:txBody>
      </p:sp>
      <p:cxnSp>
        <p:nvCxnSpPr>
          <p:cNvPr id="835" name="Google Shape;835;h2e31e1e379926e44_0_234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6" name="Google Shape;836;h2e31e1e379926e44_0_234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데이터 tx fifo -&gt; uart_tx 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7" name="Google Shape;837;h2e31e1e379926e44_0_2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6975" y="2307962"/>
            <a:ext cx="4258375" cy="4208025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h2e31e1e379926e44_0_234"/>
          <p:cNvSpPr/>
          <p:nvPr/>
        </p:nvSpPr>
        <p:spPr>
          <a:xfrm rot="5402812">
            <a:off x="2683725" y="4748425"/>
            <a:ext cx="1100400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9" name="Google Shape;839;h2e31e1e379926e44_0_234"/>
          <p:cNvCxnSpPr/>
          <p:nvPr/>
        </p:nvCxnSpPr>
        <p:spPr>
          <a:xfrm>
            <a:off x="3104600" y="2610825"/>
            <a:ext cx="9600" cy="2980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40" name="Google Shape;840;h2e31e1e379926e44_0_234"/>
          <p:cNvSpPr/>
          <p:nvPr/>
        </p:nvSpPr>
        <p:spPr>
          <a:xfrm rot="-5397255">
            <a:off x="1799075" y="4658900"/>
            <a:ext cx="1878301" cy="167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1" name="Google Shape;841;h2e31e1e379926e44_0_234"/>
          <p:cNvGrpSpPr/>
          <p:nvPr/>
        </p:nvGrpSpPr>
        <p:grpSpPr>
          <a:xfrm>
            <a:off x="4899925" y="1820100"/>
            <a:ext cx="3545925" cy="483600"/>
            <a:chOff x="6968625" y="1820175"/>
            <a:chExt cx="3545925" cy="483600"/>
          </a:xfrm>
        </p:grpSpPr>
        <p:sp>
          <p:nvSpPr>
            <p:cNvPr id="842" name="Google Shape;842;h2e31e1e379926e44_0_234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h2e31e1e379926e44_0_234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44" name="Google Shape;844;h2e31e1e379926e44_0_234"/>
          <p:cNvPicPr preferRelativeResize="0"/>
          <p:nvPr/>
        </p:nvPicPr>
        <p:blipFill rotWithShape="1">
          <a:blip r:embed="rId4">
            <a:alphaModFix/>
          </a:blip>
          <a:srcRect b="0" l="54829" r="0" t="0"/>
          <a:stretch/>
        </p:blipFill>
        <p:spPr>
          <a:xfrm>
            <a:off x="5782000" y="2490975"/>
            <a:ext cx="4542324" cy="3892201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h2e31e1e379926e44_0_234"/>
          <p:cNvSpPr/>
          <p:nvPr/>
        </p:nvSpPr>
        <p:spPr>
          <a:xfrm rot="-10797712">
            <a:off x="6978674" y="4504075"/>
            <a:ext cx="1803000" cy="37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FF00">
              <a:alpha val="37255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h2e31e1e379926e44_0_234"/>
          <p:cNvSpPr/>
          <p:nvPr/>
        </p:nvSpPr>
        <p:spPr>
          <a:xfrm rot="2675">
            <a:off x="6980124" y="3862875"/>
            <a:ext cx="1927501" cy="373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>
              <a:alpha val="41176"/>
            </a:srgbClr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h2e31e1e379926e44_0_234"/>
          <p:cNvSpPr/>
          <p:nvPr/>
        </p:nvSpPr>
        <p:spPr>
          <a:xfrm>
            <a:off x="3032175" y="5499600"/>
            <a:ext cx="418800" cy="158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h2e31e1e379926e44_0_307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853" name="Google Shape;853;h2e31e1e379926e44_0_307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h2e31e1e379926e44_0_307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TX 검증 결과</a:t>
            </a:r>
            <a:endParaRPr sz="3400"/>
          </a:p>
        </p:txBody>
      </p:sp>
      <p:cxnSp>
        <p:nvCxnSpPr>
          <p:cNvPr id="855" name="Google Shape;855;h2e31e1e379926e44_0_307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6" name="Google Shape;856;h2e31e1e379926e44_0_307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tx_start =1 =&gt; idel -&gt; start , tx = 0 | START 에서 16tick이후-&gt;DATA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h2e31e1e379926e44_0_307"/>
          <p:cNvPicPr preferRelativeResize="0"/>
          <p:nvPr/>
        </p:nvPicPr>
        <p:blipFill rotWithShape="1">
          <a:blip r:embed="rId3">
            <a:alphaModFix/>
          </a:blip>
          <a:srcRect b="0" l="0" r="32336" t="0"/>
          <a:stretch/>
        </p:blipFill>
        <p:spPr>
          <a:xfrm>
            <a:off x="690175" y="2468875"/>
            <a:ext cx="4794699" cy="3793101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h2e31e1e379926e44_0_307"/>
          <p:cNvSpPr/>
          <p:nvPr/>
        </p:nvSpPr>
        <p:spPr>
          <a:xfrm rot="5023415">
            <a:off x="3922440" y="4449654"/>
            <a:ext cx="386919" cy="167834"/>
          </a:xfrm>
          <a:prstGeom prst="rightArrow">
            <a:avLst>
              <a:gd fmla="val 20227" name="adj1"/>
              <a:gd fmla="val 50000" name="adj2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h2e31e1e379926e44_0_307"/>
          <p:cNvSpPr txBox="1"/>
          <p:nvPr/>
        </p:nvSpPr>
        <p:spPr>
          <a:xfrm>
            <a:off x="4086700" y="4593925"/>
            <a:ext cx="1168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 (START)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0" name="Google Shape;860;h2e31e1e379926e44_0_307"/>
          <p:cNvPicPr preferRelativeResize="0"/>
          <p:nvPr/>
        </p:nvPicPr>
        <p:blipFill rotWithShape="1">
          <a:blip r:embed="rId4">
            <a:alphaModFix/>
          </a:blip>
          <a:srcRect b="0" l="0" r="24248" t="0"/>
          <a:stretch/>
        </p:blipFill>
        <p:spPr>
          <a:xfrm>
            <a:off x="6327258" y="2468875"/>
            <a:ext cx="5179791" cy="3948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h2e31e1e379926e44_0_307"/>
          <p:cNvSpPr/>
          <p:nvPr/>
        </p:nvSpPr>
        <p:spPr>
          <a:xfrm>
            <a:off x="9358800" y="6034625"/>
            <a:ext cx="741600" cy="227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h2e31e1e379926e44_0_307"/>
          <p:cNvSpPr txBox="1"/>
          <p:nvPr/>
        </p:nvSpPr>
        <p:spPr>
          <a:xfrm>
            <a:off x="9576900" y="5686050"/>
            <a:ext cx="8301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16 tick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h2e31e1e379926e44_0_307"/>
          <p:cNvSpPr txBox="1"/>
          <p:nvPr/>
        </p:nvSpPr>
        <p:spPr>
          <a:xfrm>
            <a:off x="4292850" y="3176713"/>
            <a:ext cx="11688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tx 0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64" name="Google Shape;864;h2e31e1e379926e44_0_307"/>
          <p:cNvGrpSpPr/>
          <p:nvPr/>
        </p:nvGrpSpPr>
        <p:grpSpPr>
          <a:xfrm>
            <a:off x="8275750" y="1321813"/>
            <a:ext cx="3545925" cy="483600"/>
            <a:chOff x="6968625" y="1820175"/>
            <a:chExt cx="3545925" cy="483600"/>
          </a:xfrm>
        </p:grpSpPr>
        <p:sp>
          <p:nvSpPr>
            <p:cNvPr id="865" name="Google Shape;865;h2e31e1e379926e44_0_307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h2e31e1e379926e44_0_307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h2e31e1e379926e44_0_353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872" name="Google Shape;872;h2e31e1e379926e44_0_353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3" name="Google Shape;873;h2e31e1e379926e44_0_353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TX 검증 결과</a:t>
            </a:r>
            <a:endParaRPr sz="3400"/>
          </a:p>
        </p:txBody>
      </p:sp>
      <p:cxnSp>
        <p:nvCxnSpPr>
          <p:cNvPr id="874" name="Google Shape;874;h2e31e1e379926e44_0_353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5" name="Google Shape;875;h2e31e1e379926e44_0_353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16tick마다 우쉬프트 , tx = data_reg[0]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6" name="Google Shape;876;h2e31e1e379926e44_0_353"/>
          <p:cNvPicPr preferRelativeResize="0"/>
          <p:nvPr/>
        </p:nvPicPr>
        <p:blipFill rotWithShape="1">
          <a:blip r:embed="rId3">
            <a:alphaModFix/>
          </a:blip>
          <a:srcRect b="0" l="0" r="3204" t="0"/>
          <a:stretch/>
        </p:blipFill>
        <p:spPr>
          <a:xfrm>
            <a:off x="834313" y="2490975"/>
            <a:ext cx="10523373" cy="4220475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h2e31e1e379926e44_0_353"/>
          <p:cNvSpPr/>
          <p:nvPr/>
        </p:nvSpPr>
        <p:spPr>
          <a:xfrm>
            <a:off x="4441400" y="4344275"/>
            <a:ext cx="288600" cy="1836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8" name="Google Shape;878;h2e31e1e379926e44_0_353"/>
          <p:cNvSpPr/>
          <p:nvPr/>
        </p:nvSpPr>
        <p:spPr>
          <a:xfrm rot="5024250">
            <a:off x="4332527" y="4769008"/>
            <a:ext cx="635291" cy="167834"/>
          </a:xfrm>
          <a:prstGeom prst="rightArrow">
            <a:avLst>
              <a:gd fmla="val 20227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9" name="Google Shape;879;h2e31e1e379926e44_0_353"/>
          <p:cNvPicPr preferRelativeResize="0"/>
          <p:nvPr/>
        </p:nvPicPr>
        <p:blipFill rotWithShape="1">
          <a:blip r:embed="rId4">
            <a:alphaModFix/>
          </a:blip>
          <a:srcRect b="20347" l="8209" r="17634" t="19790"/>
          <a:stretch/>
        </p:blipFill>
        <p:spPr>
          <a:xfrm>
            <a:off x="4937025" y="5313975"/>
            <a:ext cx="635000" cy="1357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0" name="Google Shape;880;h2e31e1e379926e44_0_353"/>
          <p:cNvPicPr preferRelativeResize="0"/>
          <p:nvPr/>
        </p:nvPicPr>
        <p:blipFill rotWithShape="1">
          <a:blip r:embed="rId5">
            <a:alphaModFix/>
          </a:blip>
          <a:srcRect b="27005" l="8611" r="13947" t="14057"/>
          <a:stretch/>
        </p:blipFill>
        <p:spPr>
          <a:xfrm>
            <a:off x="5620583" y="5310600"/>
            <a:ext cx="652400" cy="15277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1" name="Google Shape;881;h2e31e1e379926e44_0_353"/>
          <p:cNvPicPr preferRelativeResize="0"/>
          <p:nvPr/>
        </p:nvPicPr>
        <p:blipFill rotWithShape="1">
          <a:blip r:embed="rId6">
            <a:alphaModFix/>
          </a:blip>
          <a:srcRect b="25270" l="13968" r="15270" t="33372"/>
          <a:stretch/>
        </p:blipFill>
        <p:spPr>
          <a:xfrm>
            <a:off x="6321550" y="5310600"/>
            <a:ext cx="683628" cy="15277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2" name="Google Shape;882;h2e31e1e379926e44_0_353"/>
          <p:cNvPicPr preferRelativeResize="0"/>
          <p:nvPr/>
        </p:nvPicPr>
        <p:blipFill rotWithShape="1">
          <a:blip r:embed="rId7">
            <a:alphaModFix/>
          </a:blip>
          <a:srcRect b="23624" l="17006" r="25851" t="21322"/>
          <a:stretch/>
        </p:blipFill>
        <p:spPr>
          <a:xfrm>
            <a:off x="7700750" y="5310600"/>
            <a:ext cx="598419" cy="14245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3" name="Google Shape;883;h2e31e1e379926e44_0_353"/>
          <p:cNvPicPr preferRelativeResize="0"/>
          <p:nvPr/>
        </p:nvPicPr>
        <p:blipFill rotWithShape="1">
          <a:blip r:embed="rId8">
            <a:alphaModFix/>
          </a:blip>
          <a:srcRect b="23868" l="14815" r="16471" t="33488"/>
          <a:stretch/>
        </p:blipFill>
        <p:spPr>
          <a:xfrm>
            <a:off x="7029200" y="5310588"/>
            <a:ext cx="620552" cy="14245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84" name="Google Shape;884;h2e31e1e379926e44_0_353"/>
          <p:cNvPicPr preferRelativeResize="0"/>
          <p:nvPr/>
        </p:nvPicPr>
        <p:blipFill rotWithShape="1">
          <a:blip r:embed="rId9">
            <a:alphaModFix/>
          </a:blip>
          <a:srcRect b="26115" l="0" r="0" t="16914"/>
          <a:stretch/>
        </p:blipFill>
        <p:spPr>
          <a:xfrm>
            <a:off x="10228100" y="5242700"/>
            <a:ext cx="552450" cy="9767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85" name="Google Shape;885;h2e31e1e379926e44_0_353"/>
          <p:cNvSpPr txBox="1"/>
          <p:nvPr/>
        </p:nvSpPr>
        <p:spPr>
          <a:xfrm>
            <a:off x="4485075" y="5177975"/>
            <a:ext cx="65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shift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6" name="Google Shape;886;h2e31e1e379926e44_0_353"/>
          <p:cNvGrpSpPr/>
          <p:nvPr/>
        </p:nvGrpSpPr>
        <p:grpSpPr>
          <a:xfrm>
            <a:off x="5412100" y="3399747"/>
            <a:ext cx="171300" cy="2073878"/>
            <a:chOff x="5612650" y="3400447"/>
            <a:chExt cx="171300" cy="2073878"/>
          </a:xfrm>
        </p:grpSpPr>
        <p:sp>
          <p:nvSpPr>
            <p:cNvPr id="887" name="Google Shape;887;h2e31e1e379926e44_0_353"/>
            <p:cNvSpPr/>
            <p:nvPr/>
          </p:nvSpPr>
          <p:spPr>
            <a:xfrm>
              <a:off x="5621500" y="5290725"/>
              <a:ext cx="151200" cy="1836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h2e31e1e379926e44_0_353"/>
            <p:cNvSpPr/>
            <p:nvPr/>
          </p:nvSpPr>
          <p:spPr>
            <a:xfrm rot="-5393345">
              <a:off x="4768448" y="4246609"/>
              <a:ext cx="1859703" cy="167700"/>
            </a:xfrm>
            <a:prstGeom prst="rightArrow">
              <a:avLst>
                <a:gd fmla="val 20227" name="adj1"/>
                <a:gd fmla="val 50000" name="adj2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9" name="Google Shape;889;h2e31e1e379926e44_0_353"/>
          <p:cNvGrpSpPr/>
          <p:nvPr/>
        </p:nvGrpSpPr>
        <p:grpSpPr>
          <a:xfrm>
            <a:off x="6126225" y="3398360"/>
            <a:ext cx="171300" cy="2073878"/>
            <a:chOff x="5612650" y="3400447"/>
            <a:chExt cx="171300" cy="2073878"/>
          </a:xfrm>
        </p:grpSpPr>
        <p:sp>
          <p:nvSpPr>
            <p:cNvPr id="890" name="Google Shape;890;h2e31e1e379926e44_0_353"/>
            <p:cNvSpPr/>
            <p:nvPr/>
          </p:nvSpPr>
          <p:spPr>
            <a:xfrm>
              <a:off x="5621500" y="5290725"/>
              <a:ext cx="151200" cy="1836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h2e31e1e379926e44_0_353"/>
            <p:cNvSpPr/>
            <p:nvPr/>
          </p:nvSpPr>
          <p:spPr>
            <a:xfrm rot="-5393345">
              <a:off x="4768448" y="4246609"/>
              <a:ext cx="1859703" cy="167700"/>
            </a:xfrm>
            <a:prstGeom prst="rightArrow">
              <a:avLst>
                <a:gd fmla="val 20227" name="adj1"/>
                <a:gd fmla="val 50000" name="adj2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2" name="Google Shape;892;h2e31e1e379926e44_0_353"/>
          <p:cNvGrpSpPr/>
          <p:nvPr/>
        </p:nvGrpSpPr>
        <p:grpSpPr>
          <a:xfrm>
            <a:off x="6857900" y="3399747"/>
            <a:ext cx="171300" cy="2073878"/>
            <a:chOff x="5612650" y="3400447"/>
            <a:chExt cx="171300" cy="2073878"/>
          </a:xfrm>
        </p:grpSpPr>
        <p:sp>
          <p:nvSpPr>
            <p:cNvPr id="893" name="Google Shape;893;h2e31e1e379926e44_0_353"/>
            <p:cNvSpPr/>
            <p:nvPr/>
          </p:nvSpPr>
          <p:spPr>
            <a:xfrm>
              <a:off x="5621500" y="5290725"/>
              <a:ext cx="151200" cy="1836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h2e31e1e379926e44_0_353"/>
            <p:cNvSpPr/>
            <p:nvPr/>
          </p:nvSpPr>
          <p:spPr>
            <a:xfrm rot="-5393345">
              <a:off x="4768448" y="4246609"/>
              <a:ext cx="1859703" cy="167700"/>
            </a:xfrm>
            <a:prstGeom prst="rightArrow">
              <a:avLst>
                <a:gd fmla="val 20227" name="adj1"/>
                <a:gd fmla="val 50000" name="adj2"/>
              </a:avLst>
            </a:prstGeom>
            <a:solidFill>
              <a:srgbClr val="FF990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5" name="Google Shape;895;h2e31e1e379926e44_0_353"/>
          <p:cNvGrpSpPr/>
          <p:nvPr/>
        </p:nvGrpSpPr>
        <p:grpSpPr>
          <a:xfrm>
            <a:off x="6968625" y="1820175"/>
            <a:ext cx="3545925" cy="483600"/>
            <a:chOff x="6968625" y="1820175"/>
            <a:chExt cx="3545925" cy="483600"/>
          </a:xfrm>
        </p:grpSpPr>
        <p:sp>
          <p:nvSpPr>
            <p:cNvPr id="896" name="Google Shape;896;h2e31e1e379926e44_0_353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h2e31e1e379926e44_0_353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기대 결과와 동일 -&gt;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h2e31e1e379926e44_0_342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903" name="Google Shape;903;h2e31e1e379926e44_0_342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h2e31e1e379926e44_0_342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S1  TX 검증 결과</a:t>
            </a:r>
            <a:endParaRPr sz="3400"/>
          </a:p>
        </p:txBody>
      </p:sp>
      <p:cxnSp>
        <p:nvCxnSpPr>
          <p:cNvPr id="905" name="Google Shape;905;h2e31e1e379926e44_0_342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6" name="Google Shape;906;h2e31e1e379926e44_0_342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expected_data == result_data  | pass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7" name="Google Shape;907;h2e31e1e379926e44_0_3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4375" y="2567125"/>
            <a:ext cx="8563752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8" name="Google Shape;908;h2e31e1e379926e44_0_342"/>
          <p:cNvSpPr/>
          <p:nvPr/>
        </p:nvSpPr>
        <p:spPr>
          <a:xfrm>
            <a:off x="8152825" y="5596050"/>
            <a:ext cx="288600" cy="1836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9" name="Google Shape;909;h2e31e1e379926e44_0_342"/>
          <p:cNvSpPr/>
          <p:nvPr/>
        </p:nvSpPr>
        <p:spPr>
          <a:xfrm>
            <a:off x="5447675" y="5745175"/>
            <a:ext cx="288600" cy="1836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h2e31e1e379926e44_0_342"/>
          <p:cNvSpPr txBox="1"/>
          <p:nvPr/>
        </p:nvSpPr>
        <p:spPr>
          <a:xfrm>
            <a:off x="5869950" y="5650150"/>
            <a:ext cx="65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55</a:t>
            </a:r>
            <a:endParaRPr b="0" i="0" sz="14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h2e31e1e379926e44_0_342"/>
          <p:cNvSpPr txBox="1"/>
          <p:nvPr/>
        </p:nvSpPr>
        <p:spPr>
          <a:xfrm>
            <a:off x="8507150" y="5514700"/>
            <a:ext cx="652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55</a:t>
            </a:r>
            <a:endParaRPr b="0" i="0" sz="14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2" name="Google Shape;912;h2e31e1e379926e44_0_342"/>
          <p:cNvGrpSpPr/>
          <p:nvPr/>
        </p:nvGrpSpPr>
        <p:grpSpPr>
          <a:xfrm>
            <a:off x="8507150" y="2397716"/>
            <a:ext cx="3511150" cy="1444200"/>
            <a:chOff x="8507150" y="2381005"/>
            <a:chExt cx="3511150" cy="1444200"/>
          </a:xfrm>
        </p:grpSpPr>
        <p:pic>
          <p:nvPicPr>
            <p:cNvPr id="913" name="Google Shape;913;h2e31e1e379926e44_0_34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507150" y="2381005"/>
              <a:ext cx="3511150" cy="1444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4" name="Google Shape;914;h2e31e1e379926e44_0_342"/>
            <p:cNvSpPr/>
            <p:nvPr/>
          </p:nvSpPr>
          <p:spPr>
            <a:xfrm>
              <a:off x="8561750" y="2815950"/>
              <a:ext cx="2638500" cy="840900"/>
            </a:xfrm>
            <a:prstGeom prst="rect">
              <a:avLst/>
            </a:prstGeom>
            <a:noFill/>
            <a:ln cap="flat" cmpd="sng" w="381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15" name="Google Shape;915;h2e31e1e379926e44_0_342"/>
          <p:cNvGrpSpPr/>
          <p:nvPr/>
        </p:nvGrpSpPr>
        <p:grpSpPr>
          <a:xfrm>
            <a:off x="6968625" y="1820175"/>
            <a:ext cx="3545925" cy="483600"/>
            <a:chOff x="6968625" y="1820175"/>
            <a:chExt cx="3545925" cy="483600"/>
          </a:xfrm>
        </p:grpSpPr>
        <p:sp>
          <p:nvSpPr>
            <p:cNvPr id="916" name="Google Shape;916;h2e31e1e379926e44_0_342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h2e31e1e379926e44_0_342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루프백 구조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19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시나리오</a:t>
            </a:r>
            <a:endParaRPr sz="3000"/>
          </a:p>
        </p:txBody>
      </p:sp>
      <p:sp>
        <p:nvSpPr>
          <p:cNvPr id="923" name="Google Shape;923;p19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19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S2 랜덤값 256번 검증</a:t>
            </a:r>
            <a:endParaRPr sz="3400"/>
          </a:p>
        </p:txBody>
      </p:sp>
      <p:cxnSp>
        <p:nvCxnSpPr>
          <p:cNvPr id="925" name="Google Shape;925;p19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26" name="Google Shape;926;p19"/>
          <p:cNvGraphicFramePr/>
          <p:nvPr/>
        </p:nvGraphicFramePr>
        <p:xfrm>
          <a:off x="731520" y="1810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{AFF53D6E-77AE-46F8-B0E6-74BFDA289CB4}</a:tableStyleId>
              </a:tblPr>
              <a:tblGrid>
                <a:gridCol w="483050"/>
                <a:gridCol w="1871800"/>
                <a:gridCol w="3773775"/>
                <a:gridCol w="377377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 · 상태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 · 조건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결과</a:t>
                      </a:r>
                      <a:endParaRPr b="1" sz="11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05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랜덤 데이터 루프백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$random % 256</a:t>
                      </a:r>
                      <a:r>
                        <a:rPr b="1" lang="en-US" sz="1100" u="none" cap="none" strike="noStrike">
                          <a:solidFill>
                            <a:schemeClr val="dk1"/>
                          </a:solidFill>
                        </a:rPr>
                        <a:t>, </a:t>
                      </a:r>
                      <a:r>
                        <a:rPr lang="en-US" sz="1100" u="none" cap="none" strike="noStrike"/>
                        <a:t>1바이트씩 송수신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매 회 expected_data = result_data</a:t>
                      </a:r>
                      <a:endParaRPr b="0" sz="1050" u="none" cap="none" strike="noStrike">
                        <a:solidFill>
                          <a:srgbClr val="14141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05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프레임 오류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256회 반복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start · stop bit 오류 메시지 없음</a:t>
                      </a:r>
                      <a:endParaRPr b="0" sz="1050" u="none" cap="none" strike="noStrike">
                        <a:solidFill>
                          <a:srgbClr val="14141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05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결과 집계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256회 종료 후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total 256, pass 256, fail 0</a:t>
                      </a:r>
                      <a:endParaRPr b="0" sz="1050" u="none" cap="none" strike="noStrike">
                        <a:solidFill>
                          <a:srgbClr val="14141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24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932" name="Google Shape;932;p24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4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S2  랜덤 검증 결과</a:t>
            </a:r>
            <a:endParaRPr sz="3400"/>
          </a:p>
        </p:txBody>
      </p:sp>
      <p:cxnSp>
        <p:nvCxnSpPr>
          <p:cNvPr id="934" name="Google Shape;934;p24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5" name="Google Shape;935;p24"/>
          <p:cNvSpPr/>
          <p:nvPr/>
        </p:nvSpPr>
        <p:spPr>
          <a:xfrm>
            <a:off x="731520" y="1810512"/>
            <a:ext cx="11109960" cy="50292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256개의 랜덤값 모두 pass 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6" name="Google Shape;93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175" y="2567248"/>
            <a:ext cx="10403350" cy="1501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7" name="Google Shape;93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176" y="4237451"/>
            <a:ext cx="4140350" cy="2112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8" name="Google Shape;938;p24"/>
          <p:cNvGrpSpPr/>
          <p:nvPr/>
        </p:nvGrpSpPr>
        <p:grpSpPr>
          <a:xfrm>
            <a:off x="5353850" y="1820163"/>
            <a:ext cx="3545925" cy="483600"/>
            <a:chOff x="6968625" y="1820175"/>
            <a:chExt cx="3545925" cy="483600"/>
          </a:xfrm>
        </p:grpSpPr>
        <p:sp>
          <p:nvSpPr>
            <p:cNvPr id="939" name="Google Shape;939;p24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4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루프백 구조 정상 작동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" name="Google Shape;941;p24"/>
          <p:cNvSpPr/>
          <p:nvPr/>
        </p:nvSpPr>
        <p:spPr>
          <a:xfrm>
            <a:off x="593075" y="4788025"/>
            <a:ext cx="4140300" cy="13011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20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시나리오</a:t>
            </a:r>
            <a:endParaRPr sz="3000"/>
          </a:p>
        </p:txBody>
      </p:sp>
      <p:sp>
        <p:nvSpPr>
          <p:cNvPr id="947" name="Google Shape;947;p20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20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S3 보레이트 오차 허용 범위 검증</a:t>
            </a:r>
            <a:endParaRPr sz="3400"/>
          </a:p>
        </p:txBody>
      </p:sp>
      <p:cxnSp>
        <p:nvCxnSpPr>
          <p:cNvPr id="949" name="Google Shape;949;p20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50" name="Google Shape;950;p20"/>
          <p:cNvGraphicFramePr/>
          <p:nvPr/>
        </p:nvGraphicFramePr>
        <p:xfrm>
          <a:off x="731520" y="18105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{AFF53D6E-77AE-46F8-B0E6-74BFDA289CB4}</a:tableStyleId>
              </a:tblPr>
              <a:tblGrid>
                <a:gridCol w="731525"/>
                <a:gridCol w="1783075"/>
                <a:gridCol w="3246125"/>
                <a:gridCol w="53492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ID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검증 항목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입력 · 조건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기대 결과</a:t>
                      </a:r>
                      <a:endParaRPr sz="1100" u="none" cap="none" strike="noStrike"/>
                    </a:p>
                  </a:txBody>
                  <a:tcPr marT="36575" marB="36575" marR="82300" marL="82300" anchor="ctr">
                    <a:lnL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6E2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A70FC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400" u="none" cap="none" strike="noStrike"/>
                        <a:t>1</a:t>
                      </a:r>
                      <a:endParaRPr sz="105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한계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감지 지연 랜덤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오차 : +6.8% ~ +7.4%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+7% 초과 시 일부 fail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400" u="none" cap="none" strike="noStrike"/>
                        <a:t>2</a:t>
                      </a:r>
                      <a:endParaRPr sz="105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 한계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감지 지연 랜덤 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오차 : +6.0% ~ +6.5%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+6.2% 초과 시 일부 fail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400" u="none" cap="none" strike="noStrike"/>
                        <a:t>3</a:t>
                      </a:r>
                      <a:endParaRPr sz="105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− 한계 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감지 지연 랜덤 x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오차 : −5.2% ~ −4.7%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−4.8% 미만 시 일부 fail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400" u="none" cap="none" strike="noStrike"/>
                        <a:t>4</a:t>
                      </a:r>
                      <a:endParaRPr sz="105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− 한계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감지 지연 랜덤 o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오차 : −5.1% ~ −4.6%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 −4.8% 미만 시 일부 fail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FEF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1" name="Google Shape;951;p20"/>
          <p:cNvSpPr txBox="1"/>
          <p:nvPr/>
        </p:nvSpPr>
        <p:spPr>
          <a:xfrm>
            <a:off x="731520" y="5897880"/>
            <a:ext cx="11109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기대 결과의 시간 · 개수는 코드 기준 계산값으로, 파형과 score_board 결과로 확인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h2db7eeea19bf2b64_0_1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957" name="Google Shape;957;h2db7eeea19bf2b64_0_1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8" name="Google Shape;958;h2db7eeea19bf2b64_0_1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h2db7eeea19bf2b64_0_1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457200" lvl="0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감지 지연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0" name="Google Shape;960;h2db7eeea19bf2b64_0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3" y="2768373"/>
            <a:ext cx="3894144" cy="32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h2db7eeea19bf2b64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5669" y="2768373"/>
            <a:ext cx="3957852" cy="31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h2db7eeea19bf2b64_0_1"/>
          <p:cNvSpPr/>
          <p:nvPr/>
        </p:nvSpPr>
        <p:spPr>
          <a:xfrm>
            <a:off x="3410375" y="5542000"/>
            <a:ext cx="6294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h2db7eeea19bf2b64_0_1"/>
          <p:cNvSpPr/>
          <p:nvPr/>
        </p:nvSpPr>
        <p:spPr>
          <a:xfrm>
            <a:off x="7546800" y="5495450"/>
            <a:ext cx="6294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4" name="Google Shape;964;h2db7eeea19bf2b64_0_1"/>
          <p:cNvSpPr txBox="1"/>
          <p:nvPr/>
        </p:nvSpPr>
        <p:spPr>
          <a:xfrm>
            <a:off x="7019075" y="5843600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감지지연 랜덤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h2db7eeea19bf2b64_0_1"/>
          <p:cNvSpPr txBox="1"/>
          <p:nvPr/>
        </p:nvSpPr>
        <p:spPr>
          <a:xfrm>
            <a:off x="2824475" y="5181725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3.03800 us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h2db7eeea19bf2b64_0_1"/>
          <p:cNvSpPr txBox="1"/>
          <p:nvPr/>
        </p:nvSpPr>
        <p:spPr>
          <a:xfrm>
            <a:off x="7156525" y="5135175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4.38000 us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7" name="Google Shape;967;h2db7eeea19bf2b64_0_1"/>
          <p:cNvSpPr/>
          <p:nvPr/>
        </p:nvSpPr>
        <p:spPr>
          <a:xfrm>
            <a:off x="3263175" y="3826575"/>
            <a:ext cx="231000" cy="21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h2db7eeea19bf2b64_0_1"/>
          <p:cNvSpPr/>
          <p:nvPr/>
        </p:nvSpPr>
        <p:spPr>
          <a:xfrm>
            <a:off x="7243025" y="3826575"/>
            <a:ext cx="337200" cy="210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9" name="Google Shape;969;h2db7eeea19bf2b64_0_1"/>
          <p:cNvGrpSpPr/>
          <p:nvPr/>
        </p:nvGrpSpPr>
        <p:grpSpPr>
          <a:xfrm>
            <a:off x="8820247" y="2567134"/>
            <a:ext cx="3371758" cy="3236729"/>
            <a:chOff x="5394225" y="2313300"/>
            <a:chExt cx="3848600" cy="3694475"/>
          </a:xfrm>
        </p:grpSpPr>
        <p:pic>
          <p:nvPicPr>
            <p:cNvPr id="970" name="Google Shape;970;h2db7eeea19bf2b64_0_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94225" y="2313300"/>
              <a:ext cx="3260875" cy="369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h2db7eeea19bf2b64_0_1"/>
            <p:cNvSpPr/>
            <p:nvPr/>
          </p:nvSpPr>
          <p:spPr>
            <a:xfrm>
              <a:off x="7831900" y="5618550"/>
              <a:ext cx="629400" cy="258000"/>
            </a:xfrm>
            <a:prstGeom prst="rect">
              <a:avLst/>
            </a:prstGeom>
            <a:noFill/>
            <a:ln cap="flat" cmpd="sng" w="333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6"/>
                <a:buFont typeface="Arial"/>
                <a:buNone/>
              </a:pPr>
              <a:r>
                <a:t/>
              </a:r>
              <a:endParaRPr b="0" i="0" sz="12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h2db7eeea19bf2b64_0_1"/>
            <p:cNvSpPr txBox="1"/>
            <p:nvPr/>
          </p:nvSpPr>
          <p:spPr>
            <a:xfrm>
              <a:off x="7441625" y="5258275"/>
              <a:ext cx="18012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2"/>
                <a:buFont typeface="Arial"/>
                <a:buNone/>
              </a:pPr>
              <a:r>
                <a:rPr b="0" i="0" lang="en-US" sz="1752" u="none" cap="none" strike="noStrike">
                  <a:solidFill>
                    <a:schemeClr val="dk1"/>
                  </a:solidFill>
                  <a:highlight>
                    <a:srgbClr val="FF9900"/>
                  </a:highlight>
                  <a:latin typeface="Arial"/>
                  <a:ea typeface="Arial"/>
                  <a:cs typeface="Arial"/>
                  <a:sym typeface="Arial"/>
                </a:rPr>
                <a:t>6.35000 us</a:t>
              </a:r>
              <a:endParaRPr b="0" i="0" sz="1752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6"/>
                <a:buFont typeface="Arial"/>
                <a:buNone/>
              </a:pPr>
              <a:r>
                <a:t/>
              </a:r>
              <a:endParaRPr b="0" i="0" sz="1226" u="none" cap="none" strike="noStrike">
                <a:solidFill>
                  <a:srgbClr val="141413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3" name="Google Shape;973;h2db7eeea19bf2b64_0_1"/>
          <p:cNvSpPr txBox="1"/>
          <p:nvPr/>
        </p:nvSpPr>
        <p:spPr>
          <a:xfrm>
            <a:off x="8820275" y="5800000"/>
            <a:ext cx="3371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감지지연 랜덤 x</a:t>
            </a:r>
            <a:endParaRPr b="0" i="0" sz="23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다음 바이트의 송신 시작 시점이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이전 바이트의 tx(= DUT의 tick)에 묶여있음</a:t>
            </a:r>
            <a:endParaRPr b="0" i="0" sz="23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h2db7eeea19bf2b64_0_1"/>
          <p:cNvSpPr txBox="1"/>
          <p:nvPr/>
        </p:nvSpPr>
        <p:spPr>
          <a:xfrm>
            <a:off x="2824475" y="6108700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감지지연 랜덤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h2e31e1e379926e44_0_382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980" name="Google Shape;980;h2e31e1e379926e44_0_382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h2e31e1e379926e44_0_382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S3  오차 검증 결과 - 감지 지연 랜덤 O</a:t>
            </a:r>
            <a:endParaRPr sz="3400"/>
          </a:p>
        </p:txBody>
      </p:sp>
      <p:cxnSp>
        <p:nvCxnSpPr>
          <p:cNvPr id="982" name="Google Shape;982;h2e31e1e379926e44_0_382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3" name="Google Shape;983;h2e31e1e379926e44_0_382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0~+6.2% 범위의 오차에서 정상 수신</a:t>
            </a:r>
            <a:endParaRPr b="1" i="0" sz="2000" u="none" cap="none" strike="noStrike">
              <a:solidFill>
                <a:srgbClr val="5F6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4" name="Google Shape;984;h2e31e1e379926e44_0_382"/>
          <p:cNvSpPr txBox="1"/>
          <p:nvPr/>
        </p:nvSpPr>
        <p:spPr>
          <a:xfrm>
            <a:off x="8732520" y="1810512"/>
            <a:ext cx="2971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I-1 ~ I-7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5" name="Google Shape;985;h2e31e1e379926e44_0_3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32525" y="1098100"/>
            <a:ext cx="3086100" cy="546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h2e31e1e379926e44_0_38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69152" y="2490975"/>
            <a:ext cx="4085775" cy="429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h2e31e1e379926e44_0_3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513" y="2490975"/>
            <a:ext cx="362902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h2e31e1e379926e44_0_382"/>
          <p:cNvSpPr/>
          <p:nvPr/>
        </p:nvSpPr>
        <p:spPr>
          <a:xfrm>
            <a:off x="1313700" y="3286350"/>
            <a:ext cx="13671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h2e31e1e379926e44_0_382"/>
          <p:cNvSpPr/>
          <p:nvPr/>
        </p:nvSpPr>
        <p:spPr>
          <a:xfrm>
            <a:off x="4696050" y="2994600"/>
            <a:ext cx="36015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0" name="Google Shape;990;h2e31e1e379926e44_0_382"/>
          <p:cNvSpPr/>
          <p:nvPr/>
        </p:nvSpPr>
        <p:spPr>
          <a:xfrm>
            <a:off x="8841275" y="2990550"/>
            <a:ext cx="2754300" cy="876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1" name="Google Shape;991;h2e31e1e379926e44_0_382"/>
          <p:cNvSpPr/>
          <p:nvPr/>
        </p:nvSpPr>
        <p:spPr>
          <a:xfrm>
            <a:off x="4953425" y="4700400"/>
            <a:ext cx="16692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h2e31e1e379926e44_0_382"/>
          <p:cNvSpPr txBox="1"/>
          <p:nvPr/>
        </p:nvSpPr>
        <p:spPr>
          <a:xfrm>
            <a:off x="6622625" y="4656675"/>
            <a:ext cx="14652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41413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랜덤 감지 지연</a:t>
            </a:r>
            <a:endParaRPr b="0" i="0" sz="1400" u="none" cap="none" strike="noStrike">
              <a:solidFill>
                <a:srgbClr val="141413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3" name="Google Shape;993;h2e31e1e379926e44_0_382"/>
          <p:cNvCxnSpPr>
            <a:stCxn id="989" idx="1"/>
            <a:endCxn id="988" idx="3"/>
          </p:cNvCxnSpPr>
          <p:nvPr/>
        </p:nvCxnSpPr>
        <p:spPr>
          <a:xfrm flipH="1">
            <a:off x="2680650" y="3123600"/>
            <a:ext cx="2015400" cy="291900"/>
          </a:xfrm>
          <a:prstGeom prst="straightConnector1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h7922228e669e87b5_0_162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999" name="Google Shape;999;h7922228e669e87b5_0_162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h7922228e669e87b5_0_162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S3  오차 검증 결과 - 감지 지연 랜덤 X</a:t>
            </a:r>
            <a:endParaRPr sz="3400"/>
          </a:p>
        </p:txBody>
      </p:sp>
      <p:cxnSp>
        <p:nvCxnSpPr>
          <p:cNvPr id="1001" name="Google Shape;1001;h7922228e669e87b5_0_162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2" name="Google Shape;1002;h7922228e669e87b5_0_162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0~+6.9% 범위의 오차에서 정상 수신</a:t>
            </a:r>
            <a:endParaRPr b="1" i="0" sz="2000" u="none" cap="none" strike="noStrike">
              <a:solidFill>
                <a:srgbClr val="5F647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3" name="Google Shape;1003;h7922228e669e87b5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01025" y="1810500"/>
            <a:ext cx="2895600" cy="470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4" name="Google Shape;1004;h7922228e669e87b5_0_162"/>
          <p:cNvPicPr preferRelativeResize="0"/>
          <p:nvPr/>
        </p:nvPicPr>
        <p:blipFill rotWithShape="1">
          <a:blip r:embed="rId4">
            <a:alphaModFix/>
          </a:blip>
          <a:srcRect b="4635" l="0" r="0" t="0"/>
          <a:stretch/>
        </p:blipFill>
        <p:spPr>
          <a:xfrm>
            <a:off x="577975" y="4273300"/>
            <a:ext cx="3825925" cy="227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h7922228e669e87b5_0_162"/>
          <p:cNvPicPr preferRelativeResize="0"/>
          <p:nvPr/>
        </p:nvPicPr>
        <p:blipFill rotWithShape="1">
          <a:blip r:embed="rId5">
            <a:alphaModFix/>
          </a:blip>
          <a:srcRect b="2315" l="0" r="0" t="0"/>
          <a:stretch/>
        </p:blipFill>
        <p:spPr>
          <a:xfrm>
            <a:off x="577975" y="2313300"/>
            <a:ext cx="3825925" cy="205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h7922228e669e87b5_0_162"/>
          <p:cNvSpPr/>
          <p:nvPr/>
        </p:nvSpPr>
        <p:spPr>
          <a:xfrm>
            <a:off x="2749875" y="4083775"/>
            <a:ext cx="7239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7" name="Google Shape;1007;h7922228e669e87b5_0_162"/>
          <p:cNvSpPr txBox="1"/>
          <p:nvPr/>
        </p:nvSpPr>
        <p:spPr>
          <a:xfrm>
            <a:off x="4635300" y="4597900"/>
            <a:ext cx="3313200" cy="1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감지지연 동일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-&gt; 다음 바이트의 송신 시작 시점이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이전 바이트의 tx(= DUT의 tick)에 묶여 있기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때문 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8" name="Google Shape;1008;h7922228e669e87b5_0_162"/>
          <p:cNvSpPr txBox="1"/>
          <p:nvPr/>
        </p:nvSpPr>
        <p:spPr>
          <a:xfrm>
            <a:off x="3583150" y="3876925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6.35000 us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9" name="Google Shape;1009;h7922228e669e87b5_0_162"/>
          <p:cNvSpPr txBox="1"/>
          <p:nvPr/>
        </p:nvSpPr>
        <p:spPr>
          <a:xfrm>
            <a:off x="3473775" y="5749250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6.35000 us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h7922228e669e87b5_0_162"/>
          <p:cNvSpPr/>
          <p:nvPr/>
        </p:nvSpPr>
        <p:spPr>
          <a:xfrm>
            <a:off x="3583150" y="6128975"/>
            <a:ext cx="7239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1" name="Google Shape;1011;h7922228e669e87b5_0_162"/>
          <p:cNvSpPr/>
          <p:nvPr/>
        </p:nvSpPr>
        <p:spPr>
          <a:xfrm>
            <a:off x="8101025" y="2747900"/>
            <a:ext cx="2750700" cy="10026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h7922228e669e87b5_0_119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1017" name="Google Shape;1017;h7922228e669e87b5_0_119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h7922228e669e87b5_0_119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S3  오차 검증 결과 - 감지 지연 랜덤 O</a:t>
            </a:r>
            <a:endParaRPr sz="3400"/>
          </a:p>
        </p:txBody>
      </p:sp>
      <p:cxnSp>
        <p:nvCxnSpPr>
          <p:cNvPr id="1019" name="Google Shape;1019;h7922228e669e87b5_0_119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0" name="Google Shape;1020;h7922228e669e87b5_0_119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-4.8%~0 범위의 오차에서 정상 수신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1" name="Google Shape;1021;h7922228e669e87b5_0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70850" y="952575"/>
            <a:ext cx="3064200" cy="5794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h7922228e669e87b5_0_1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3" y="2768373"/>
            <a:ext cx="3894144" cy="3233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3" name="Google Shape;1023;h7922228e669e87b5_0_1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5669" y="2768373"/>
            <a:ext cx="3957852" cy="31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4" name="Google Shape;1024;h7922228e669e87b5_0_119"/>
          <p:cNvSpPr/>
          <p:nvPr/>
        </p:nvSpPr>
        <p:spPr>
          <a:xfrm>
            <a:off x="8870850" y="4827500"/>
            <a:ext cx="2754300" cy="876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h7922228e669e87b5_0_119"/>
          <p:cNvSpPr/>
          <p:nvPr/>
        </p:nvSpPr>
        <p:spPr>
          <a:xfrm>
            <a:off x="3410375" y="5542000"/>
            <a:ext cx="6294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h7922228e669e87b5_0_119"/>
          <p:cNvSpPr/>
          <p:nvPr/>
        </p:nvSpPr>
        <p:spPr>
          <a:xfrm>
            <a:off x="7546800" y="5495450"/>
            <a:ext cx="629400" cy="2580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7" name="Google Shape;1027;h7922228e669e87b5_0_119"/>
          <p:cNvSpPr txBox="1"/>
          <p:nvPr/>
        </p:nvSpPr>
        <p:spPr>
          <a:xfrm>
            <a:off x="4674950" y="5964825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감지지연 랜덤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8" name="Google Shape;1028;h7922228e669e87b5_0_119"/>
          <p:cNvSpPr txBox="1"/>
          <p:nvPr/>
        </p:nvSpPr>
        <p:spPr>
          <a:xfrm>
            <a:off x="2824475" y="5181725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3.03800 us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9" name="Google Shape;1029;h7922228e669e87b5_0_119"/>
          <p:cNvSpPr txBox="1"/>
          <p:nvPr/>
        </p:nvSpPr>
        <p:spPr>
          <a:xfrm>
            <a:off x="7156525" y="5135175"/>
            <a:ext cx="18012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4.38000 us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F"/>
        </a:solidFill>
      </p:bgPr>
    </p:bg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h7922228e669e87b5_0_145"/>
          <p:cNvSpPr txBox="1"/>
          <p:nvPr>
            <p:ph type="title"/>
          </p:nvPr>
        </p:nvSpPr>
        <p:spPr>
          <a:xfrm>
            <a:off x="3409044" y="175650"/>
            <a:ext cx="5765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시뮬레이션 결과</a:t>
            </a:r>
            <a:endParaRPr sz="3000"/>
          </a:p>
        </p:txBody>
      </p:sp>
      <p:sp>
        <p:nvSpPr>
          <p:cNvPr id="1035" name="Google Shape;1035;h7922228e669e87b5_0_145"/>
          <p:cNvSpPr/>
          <p:nvPr/>
        </p:nvSpPr>
        <p:spPr>
          <a:xfrm>
            <a:off x="256950" y="866125"/>
            <a:ext cx="11678100" cy="582870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h7922228e669e87b5_0_145"/>
          <p:cNvSpPr txBox="1"/>
          <p:nvPr>
            <p:ph type="title"/>
          </p:nvPr>
        </p:nvSpPr>
        <p:spPr>
          <a:xfrm>
            <a:off x="967900" y="1073975"/>
            <a:ext cx="79617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 sz="3400"/>
              <a:t>S3  오차 검증 결과 - 감지 지연 랜덤 X</a:t>
            </a:r>
            <a:endParaRPr sz="3400"/>
          </a:p>
        </p:txBody>
      </p:sp>
      <p:cxnSp>
        <p:nvCxnSpPr>
          <p:cNvPr id="1037" name="Google Shape;1037;h7922228e669e87b5_0_145"/>
          <p:cNvCxnSpPr/>
          <p:nvPr/>
        </p:nvCxnSpPr>
        <p:spPr>
          <a:xfrm>
            <a:off x="690175" y="1632825"/>
            <a:ext cx="11131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8" name="Google Shape;1038;h7922228e669e87b5_0_145"/>
          <p:cNvSpPr/>
          <p:nvPr/>
        </p:nvSpPr>
        <p:spPr>
          <a:xfrm>
            <a:off x="731520" y="1810512"/>
            <a:ext cx="11109900" cy="502800"/>
          </a:xfrm>
          <a:prstGeom prst="roundRect">
            <a:avLst>
              <a:gd fmla="val 30000" name="adj"/>
            </a:avLst>
          </a:prstGeom>
          <a:solidFill>
            <a:srgbClr val="EEF3FF"/>
          </a:solidFill>
          <a:ln>
            <a:noFill/>
          </a:ln>
        </p:spPr>
        <p:txBody>
          <a:bodyPr anchorCtr="0" anchor="ctr" bIns="137150" lIns="137150" spcFirstLastPara="1" rIns="137150" wrap="square" tIns="1371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결과 요약   </a:t>
            </a:r>
            <a:r>
              <a:rPr b="1" i="0" lang="en-US" sz="2000" u="none" cap="none" strike="noStrike">
                <a:solidFill>
                  <a:srgbClr val="5F6470"/>
                </a:solidFill>
                <a:latin typeface="Arial"/>
                <a:ea typeface="Arial"/>
                <a:cs typeface="Arial"/>
                <a:sym typeface="Arial"/>
              </a:rPr>
              <a:t>-4.8%~0 범위의 오차에서 정상 수신</a:t>
            </a:r>
            <a:endParaRPr b="1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h7922228e669e87b5_0_145"/>
          <p:cNvSpPr txBox="1"/>
          <p:nvPr/>
        </p:nvSpPr>
        <p:spPr>
          <a:xfrm>
            <a:off x="2558850" y="5606600"/>
            <a:ext cx="5052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감지지연 동일 &amp; 감지 지연 최악 상태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rPr>
              <a:t>=&gt; 감지 지연 랜덤과 오차 동일</a:t>
            </a:r>
            <a:endParaRPr b="0" i="0" sz="2000" u="none" cap="none" strike="noStrike">
              <a:solidFill>
                <a:schemeClr val="dk1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141413"/>
              </a:solidFill>
              <a:highlight>
                <a:srgbClr val="FF99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0" name="Google Shape;1040;h7922228e669e87b5_0_145"/>
          <p:cNvGrpSpPr/>
          <p:nvPr/>
        </p:nvGrpSpPr>
        <p:grpSpPr>
          <a:xfrm>
            <a:off x="820893" y="2313512"/>
            <a:ext cx="4368983" cy="3236730"/>
            <a:chOff x="769820" y="2313295"/>
            <a:chExt cx="4986855" cy="3694475"/>
          </a:xfrm>
        </p:grpSpPr>
        <p:pic>
          <p:nvPicPr>
            <p:cNvPr id="1041" name="Google Shape;1041;h7922228e669e87b5_0_1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9820" y="2313295"/>
              <a:ext cx="4553950" cy="369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2" name="Google Shape;1042;h7922228e669e87b5_0_145"/>
            <p:cNvSpPr/>
            <p:nvPr/>
          </p:nvSpPr>
          <p:spPr>
            <a:xfrm>
              <a:off x="4541375" y="5618550"/>
              <a:ext cx="629400" cy="258000"/>
            </a:xfrm>
            <a:prstGeom prst="rect">
              <a:avLst/>
            </a:prstGeom>
            <a:noFill/>
            <a:ln cap="flat" cmpd="sng" w="3340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6"/>
                <a:buFont typeface="Arial"/>
                <a:buNone/>
              </a:pPr>
              <a:r>
                <a:t/>
              </a:r>
              <a:endParaRPr b="0" i="0" sz="12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h7922228e669e87b5_0_145"/>
            <p:cNvSpPr txBox="1"/>
            <p:nvPr/>
          </p:nvSpPr>
          <p:spPr>
            <a:xfrm>
              <a:off x="3955475" y="5258275"/>
              <a:ext cx="18012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2"/>
                <a:buFont typeface="Arial"/>
                <a:buNone/>
              </a:pPr>
              <a:r>
                <a:rPr b="0" i="0" lang="en-US" sz="1752" u="none" cap="none" strike="noStrike">
                  <a:solidFill>
                    <a:schemeClr val="dk1"/>
                  </a:solidFill>
                  <a:highlight>
                    <a:srgbClr val="FF9900"/>
                  </a:highlight>
                  <a:latin typeface="Arial"/>
                  <a:ea typeface="Arial"/>
                  <a:cs typeface="Arial"/>
                  <a:sym typeface="Arial"/>
                </a:rPr>
                <a:t>6.35000 us</a:t>
              </a:r>
              <a:endParaRPr b="0" i="0" sz="1752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6"/>
                <a:buFont typeface="Arial"/>
                <a:buNone/>
              </a:pPr>
              <a:r>
                <a:t/>
              </a:r>
              <a:endParaRPr b="0" i="0" sz="1226" u="none" cap="none" strike="noStrike">
                <a:solidFill>
                  <a:srgbClr val="141413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4" name="Google Shape;1044;h7922228e669e87b5_0_145"/>
          <p:cNvGrpSpPr/>
          <p:nvPr/>
        </p:nvGrpSpPr>
        <p:grpSpPr>
          <a:xfrm>
            <a:off x="4849698" y="2341584"/>
            <a:ext cx="3371759" cy="3236729"/>
            <a:chOff x="5394225" y="2313300"/>
            <a:chExt cx="3848600" cy="3694475"/>
          </a:xfrm>
        </p:grpSpPr>
        <p:pic>
          <p:nvPicPr>
            <p:cNvPr id="1045" name="Google Shape;1045;h7922228e669e87b5_0_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94225" y="2313300"/>
              <a:ext cx="3260875" cy="3694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6" name="Google Shape;1046;h7922228e669e87b5_0_145"/>
            <p:cNvSpPr/>
            <p:nvPr/>
          </p:nvSpPr>
          <p:spPr>
            <a:xfrm>
              <a:off x="7831900" y="5618550"/>
              <a:ext cx="629400" cy="258000"/>
            </a:xfrm>
            <a:prstGeom prst="rect">
              <a:avLst/>
            </a:prstGeom>
            <a:noFill/>
            <a:ln cap="flat" cmpd="sng" w="33350">
              <a:solidFill>
                <a:srgbClr val="FF99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0075" lIns="80075" spcFirstLastPara="1" rIns="80075" wrap="square" tIns="800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6"/>
                <a:buFont typeface="Arial"/>
                <a:buNone/>
              </a:pPr>
              <a:r>
                <a:t/>
              </a:r>
              <a:endParaRPr b="0" i="0" sz="1226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h7922228e669e87b5_0_145"/>
            <p:cNvSpPr txBox="1"/>
            <p:nvPr/>
          </p:nvSpPr>
          <p:spPr>
            <a:xfrm>
              <a:off x="7441625" y="5258275"/>
              <a:ext cx="1801200" cy="3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75" lIns="80075" spcFirstLastPara="1" rIns="80075" wrap="square" tIns="800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52"/>
                <a:buFont typeface="Arial"/>
                <a:buNone/>
              </a:pPr>
              <a:r>
                <a:rPr b="0" i="0" lang="en-US" sz="1752" u="none" cap="none" strike="noStrike">
                  <a:solidFill>
                    <a:schemeClr val="dk1"/>
                  </a:solidFill>
                  <a:highlight>
                    <a:srgbClr val="FF9900"/>
                  </a:highlight>
                  <a:latin typeface="Arial"/>
                  <a:ea typeface="Arial"/>
                  <a:cs typeface="Arial"/>
                  <a:sym typeface="Arial"/>
                </a:rPr>
                <a:t>6.35000 us</a:t>
              </a:r>
              <a:endParaRPr b="0" i="0" sz="1752" u="none" cap="none" strike="noStrike">
                <a:solidFill>
                  <a:schemeClr val="dk1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26"/>
                <a:buFont typeface="Arial"/>
                <a:buNone/>
              </a:pPr>
              <a:r>
                <a:t/>
              </a:r>
              <a:endParaRPr b="0" i="0" sz="1226" u="none" cap="none" strike="noStrike">
                <a:solidFill>
                  <a:srgbClr val="141413"/>
                </a:solidFill>
                <a:highlight>
                  <a:srgbClr val="FF9900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48" name="Google Shape;1048;h7922228e669e87b5_0_1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29588" y="866125"/>
            <a:ext cx="2790825" cy="56578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9" name="Google Shape;1049;h7922228e669e87b5_0_145"/>
          <p:cNvGrpSpPr/>
          <p:nvPr/>
        </p:nvGrpSpPr>
        <p:grpSpPr>
          <a:xfrm>
            <a:off x="6296775" y="1788650"/>
            <a:ext cx="3545925" cy="483600"/>
            <a:chOff x="6968625" y="1820175"/>
            <a:chExt cx="3545925" cy="483600"/>
          </a:xfrm>
        </p:grpSpPr>
        <p:sp>
          <p:nvSpPr>
            <p:cNvPr id="1050" name="Google Shape;1050;h7922228e669e87b5_0_145"/>
            <p:cNvSpPr/>
            <p:nvPr/>
          </p:nvSpPr>
          <p:spPr>
            <a:xfrm>
              <a:off x="6968625" y="1820175"/>
              <a:ext cx="517500" cy="4836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h7922228e669e87b5_0_145"/>
            <p:cNvSpPr/>
            <p:nvPr/>
          </p:nvSpPr>
          <p:spPr>
            <a:xfrm>
              <a:off x="7582350" y="1820625"/>
              <a:ext cx="2932200" cy="482700"/>
            </a:xfrm>
            <a:prstGeom prst="roundRect">
              <a:avLst>
                <a:gd fmla="val 16667" name="adj"/>
              </a:avLst>
            </a:prstGeom>
            <a:solidFill>
              <a:srgbClr val="CFE2F3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랜덤 0의 오차와 동일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2" name="Google Shape;1052;h7922228e669e87b5_0_145"/>
          <p:cNvSpPr/>
          <p:nvPr/>
        </p:nvSpPr>
        <p:spPr>
          <a:xfrm>
            <a:off x="8966125" y="3679400"/>
            <a:ext cx="2754300" cy="876900"/>
          </a:xfrm>
          <a:prstGeom prst="rect">
            <a:avLst/>
          </a:prstGeom>
          <a:noFill/>
          <a:ln cap="flat" cmpd="sng" w="38100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25"/>
          <p:cNvSpPr txBox="1"/>
          <p:nvPr>
            <p:ph type="title"/>
          </p:nvPr>
        </p:nvSpPr>
        <p:spPr>
          <a:xfrm>
            <a:off x="4730244" y="861020"/>
            <a:ext cx="2731413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3000"/>
              <a:buFont typeface="Arial"/>
              <a:buNone/>
            </a:pPr>
            <a:r>
              <a:rPr b="1" lang="en-US"/>
              <a:t>동작 영상</a:t>
            </a:r>
            <a:endParaRPr sz="3000"/>
          </a:p>
        </p:txBody>
      </p:sp>
      <p:grpSp>
        <p:nvGrpSpPr>
          <p:cNvPr id="1060" name="Google Shape;1060;p25"/>
          <p:cNvGrpSpPr/>
          <p:nvPr/>
        </p:nvGrpSpPr>
        <p:grpSpPr>
          <a:xfrm>
            <a:off x="105475" y="1343625"/>
            <a:ext cx="5912975" cy="5176950"/>
            <a:chOff x="4246579" y="1386150"/>
            <a:chExt cx="3596700" cy="5176950"/>
          </a:xfrm>
        </p:grpSpPr>
        <p:grpSp>
          <p:nvGrpSpPr>
            <p:cNvPr id="1061" name="Google Shape;1061;p25"/>
            <p:cNvGrpSpPr/>
            <p:nvPr/>
          </p:nvGrpSpPr>
          <p:grpSpPr>
            <a:xfrm>
              <a:off x="4246579" y="1386150"/>
              <a:ext cx="3596700" cy="3571800"/>
              <a:chOff x="4246579" y="2044050"/>
              <a:chExt cx="3596700" cy="3571800"/>
            </a:xfrm>
          </p:grpSpPr>
          <p:sp>
            <p:nvSpPr>
              <p:cNvPr id="1062" name="Google Shape;1062;p25"/>
              <p:cNvSpPr/>
              <p:nvPr/>
            </p:nvSpPr>
            <p:spPr>
              <a:xfrm>
                <a:off x="4246579" y="2044050"/>
                <a:ext cx="3596700" cy="3571800"/>
              </a:xfrm>
              <a:prstGeom prst="roundRect">
                <a:avLst>
                  <a:gd fmla="val 5270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255636" rotWithShape="0" algn="bl" dir="5400000" dist="85212">
                  <a:srgbClr val="3A70FC">
                    <a:alpha val="7843"/>
                  </a:srgbClr>
                </a:outerShdw>
              </a:effectLst>
            </p:spPr>
            <p:txBody>
              <a:bodyPr anchorCtr="0" anchor="ctr" bIns="153350" lIns="153350" spcFirstLastPara="1" rIns="153350" wrap="square" tIns="153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3" name="Google Shape;1063;p25"/>
              <p:cNvSpPr/>
              <p:nvPr/>
            </p:nvSpPr>
            <p:spPr>
              <a:xfrm>
                <a:off x="4426400" y="5044625"/>
                <a:ext cx="3339300" cy="40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798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82828"/>
                  </a:buClr>
                  <a:buSzPts val="2013"/>
                  <a:buFont typeface="Arial"/>
                  <a:buNone/>
                </a:pPr>
                <a:r>
                  <a:t/>
                </a:r>
                <a:endParaRPr b="0" i="0" sz="2013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64" name="Google Shape;1064;p25"/>
            <p:cNvCxnSpPr>
              <a:endCxn id="1065" idx="0"/>
            </p:cNvCxnSpPr>
            <p:nvPr/>
          </p:nvCxnSpPr>
          <p:spPr>
            <a:xfrm>
              <a:off x="6044025" y="5031000"/>
              <a:ext cx="900" cy="540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65" name="Google Shape;1065;p25"/>
            <p:cNvSpPr/>
            <p:nvPr/>
          </p:nvSpPr>
          <p:spPr>
            <a:xfrm>
              <a:off x="4775025" y="5571300"/>
              <a:ext cx="2539800" cy="9918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단일 바이트 전송</a:t>
              </a:r>
              <a:endParaRPr b="1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=&gt;정상 작동</a:t>
              </a:r>
              <a:endParaRPr b="1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6" name="Google Shape;1066;p25"/>
          <p:cNvGrpSpPr/>
          <p:nvPr/>
        </p:nvGrpSpPr>
        <p:grpSpPr>
          <a:xfrm>
            <a:off x="6279025" y="1343625"/>
            <a:ext cx="5912975" cy="5278325"/>
            <a:chOff x="4246579" y="1284775"/>
            <a:chExt cx="3596700" cy="5278325"/>
          </a:xfrm>
        </p:grpSpPr>
        <p:grpSp>
          <p:nvGrpSpPr>
            <p:cNvPr id="1067" name="Google Shape;1067;p25"/>
            <p:cNvGrpSpPr/>
            <p:nvPr/>
          </p:nvGrpSpPr>
          <p:grpSpPr>
            <a:xfrm>
              <a:off x="4246579" y="1284775"/>
              <a:ext cx="3596700" cy="3673200"/>
              <a:chOff x="4246579" y="1942675"/>
              <a:chExt cx="3596700" cy="3673200"/>
            </a:xfrm>
          </p:grpSpPr>
          <p:sp>
            <p:nvSpPr>
              <p:cNvPr id="1068" name="Google Shape;1068;p25"/>
              <p:cNvSpPr/>
              <p:nvPr/>
            </p:nvSpPr>
            <p:spPr>
              <a:xfrm>
                <a:off x="4246579" y="1942675"/>
                <a:ext cx="3596700" cy="3673200"/>
              </a:xfrm>
              <a:prstGeom prst="roundRect">
                <a:avLst>
                  <a:gd fmla="val 5270" name="adj"/>
                </a:avLst>
              </a:prstGeom>
              <a:solidFill>
                <a:srgbClr val="FFFFFF"/>
              </a:solidFill>
              <a:ln>
                <a:noFill/>
              </a:ln>
              <a:effectLst>
                <a:outerShdw blurRad="255636" rotWithShape="0" algn="bl" dir="5400000" dist="85212">
                  <a:srgbClr val="3A70FC">
                    <a:alpha val="7843"/>
                  </a:srgbClr>
                </a:outerShdw>
              </a:effectLst>
            </p:spPr>
            <p:txBody>
              <a:bodyPr anchorCtr="0" anchor="ctr" bIns="153350" lIns="153350" spcFirstLastPara="1" rIns="153350" wrap="square" tIns="15335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25"/>
              <p:cNvSpPr/>
              <p:nvPr/>
            </p:nvSpPr>
            <p:spPr>
              <a:xfrm>
                <a:off x="4426400" y="5044625"/>
                <a:ext cx="3339300" cy="40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1798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82828"/>
                  </a:buClr>
                  <a:buSzPts val="2013"/>
                  <a:buFont typeface="Arial"/>
                  <a:buNone/>
                </a:pPr>
                <a:r>
                  <a:t/>
                </a:r>
                <a:endParaRPr b="0" i="0" sz="2013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70" name="Google Shape;1070;p25"/>
            <p:cNvCxnSpPr>
              <a:endCxn id="1071" idx="0"/>
            </p:cNvCxnSpPr>
            <p:nvPr/>
          </p:nvCxnSpPr>
          <p:spPr>
            <a:xfrm>
              <a:off x="6044025" y="5031000"/>
              <a:ext cx="900" cy="540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1" name="Google Shape;1071;p25"/>
            <p:cNvSpPr/>
            <p:nvPr/>
          </p:nvSpPr>
          <p:spPr>
            <a:xfrm>
              <a:off x="4775025" y="5571300"/>
              <a:ext cx="2539800" cy="991800"/>
            </a:xfrm>
            <a:prstGeom prst="roundRect">
              <a:avLst>
                <a:gd fmla="val 4545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연속 바이트 전송</a:t>
              </a:r>
              <a:endParaRPr b="1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7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=&gt;정상 작동</a:t>
              </a:r>
              <a:endParaRPr b="1" i="0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72" name="Google Shape;1072;p25" title="Adobe Express - Adobe Express - uart(rx,tx)+fifo (1).gif"/>
          <p:cNvPicPr preferRelativeResize="0"/>
          <p:nvPr/>
        </p:nvPicPr>
        <p:blipFill rotWithShape="1">
          <a:blip r:embed="rId3">
            <a:alphaModFix/>
          </a:blip>
          <a:srcRect b="4205" l="0" r="0" t="0"/>
          <a:stretch/>
        </p:blipFill>
        <p:spPr>
          <a:xfrm>
            <a:off x="6343275" y="1343625"/>
            <a:ext cx="5707550" cy="365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25" title="Adobe Express - Adobe Express - uart(rx,tx)+fifo (2) (1).gif"/>
          <p:cNvPicPr preferRelativeResize="0"/>
          <p:nvPr/>
        </p:nvPicPr>
        <p:blipFill rotWithShape="1">
          <a:blip r:embed="rId4">
            <a:alphaModFix/>
          </a:blip>
          <a:srcRect b="-4102" l="0" r="0" t="0"/>
          <a:stretch/>
        </p:blipFill>
        <p:spPr>
          <a:xfrm>
            <a:off x="265713" y="1343625"/>
            <a:ext cx="5592500" cy="3655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26"/>
          <p:cNvSpPr txBox="1"/>
          <p:nvPr/>
        </p:nvSpPr>
        <p:spPr>
          <a:xfrm>
            <a:off x="1596000" y="861020"/>
            <a:ext cx="9000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26"/>
          <p:cNvSpPr txBox="1"/>
          <p:nvPr/>
        </p:nvSpPr>
        <p:spPr>
          <a:xfrm>
            <a:off x="812800" y="1530000"/>
            <a:ext cx="1042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결론</a:t>
            </a: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 구현 성과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2" name="Google Shape;1082;p26"/>
          <p:cNvGrpSpPr/>
          <p:nvPr/>
        </p:nvGrpSpPr>
        <p:grpSpPr>
          <a:xfrm>
            <a:off x="812800" y="1910000"/>
            <a:ext cx="10540800" cy="1525800"/>
            <a:chOff x="812800" y="1910000"/>
            <a:chExt cx="10540800" cy="1525800"/>
          </a:xfrm>
        </p:grpSpPr>
        <p:sp>
          <p:nvSpPr>
            <p:cNvPr id="1083" name="Google Shape;1083;p26"/>
            <p:cNvSpPr/>
            <p:nvPr/>
          </p:nvSpPr>
          <p:spPr>
            <a:xfrm>
              <a:off x="812800" y="1910000"/>
              <a:ext cx="10540800" cy="1525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26"/>
            <p:cNvSpPr txBox="1"/>
            <p:nvPr/>
          </p:nvSpPr>
          <p:spPr>
            <a:xfrm>
              <a:off x="1072800" y="2060000"/>
              <a:ext cx="282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A70F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26"/>
            <p:cNvSpPr/>
            <p:nvPr/>
          </p:nvSpPr>
          <p:spPr>
            <a:xfrm>
              <a:off x="1072800" y="2490000"/>
              <a:ext cx="420000" cy="39900"/>
            </a:xfrm>
            <a:prstGeom prst="roundRect">
              <a:avLst>
                <a:gd fmla="val 50000" name="adj"/>
              </a:avLst>
            </a:prstGeom>
            <a:solidFill>
              <a:srgbClr val="3A7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6" name="Google Shape;1086;p26"/>
          <p:cNvGrpSpPr/>
          <p:nvPr/>
        </p:nvGrpSpPr>
        <p:grpSpPr>
          <a:xfrm>
            <a:off x="825600" y="3584700"/>
            <a:ext cx="10540800" cy="1525800"/>
            <a:chOff x="812800" y="1910000"/>
            <a:chExt cx="10540800" cy="1525800"/>
          </a:xfrm>
        </p:grpSpPr>
        <p:sp>
          <p:nvSpPr>
            <p:cNvPr id="1087" name="Google Shape;1087;p26"/>
            <p:cNvSpPr/>
            <p:nvPr/>
          </p:nvSpPr>
          <p:spPr>
            <a:xfrm>
              <a:off x="812800" y="1910000"/>
              <a:ext cx="10540800" cy="1525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26"/>
            <p:cNvSpPr txBox="1"/>
            <p:nvPr/>
          </p:nvSpPr>
          <p:spPr>
            <a:xfrm>
              <a:off x="1072800" y="2060000"/>
              <a:ext cx="282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A70FC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26"/>
            <p:cNvSpPr/>
            <p:nvPr/>
          </p:nvSpPr>
          <p:spPr>
            <a:xfrm>
              <a:off x="1072800" y="2490000"/>
              <a:ext cx="420000" cy="39900"/>
            </a:xfrm>
            <a:prstGeom prst="roundRect">
              <a:avLst>
                <a:gd fmla="val 50000" name="adj"/>
              </a:avLst>
            </a:prstGeom>
            <a:solidFill>
              <a:srgbClr val="3A7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0" name="Google Shape;1090;p26"/>
          <p:cNvGrpSpPr/>
          <p:nvPr/>
        </p:nvGrpSpPr>
        <p:grpSpPr>
          <a:xfrm>
            <a:off x="825600" y="5259400"/>
            <a:ext cx="10540800" cy="1525800"/>
            <a:chOff x="812800" y="1910000"/>
            <a:chExt cx="10540800" cy="1525800"/>
          </a:xfrm>
        </p:grpSpPr>
        <p:sp>
          <p:nvSpPr>
            <p:cNvPr id="1091" name="Google Shape;1091;p26"/>
            <p:cNvSpPr/>
            <p:nvPr/>
          </p:nvSpPr>
          <p:spPr>
            <a:xfrm>
              <a:off x="812800" y="1910000"/>
              <a:ext cx="10540800" cy="1525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26"/>
            <p:cNvSpPr txBox="1"/>
            <p:nvPr/>
          </p:nvSpPr>
          <p:spPr>
            <a:xfrm>
              <a:off x="1072800" y="2060000"/>
              <a:ext cx="282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A70FC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26"/>
            <p:cNvSpPr/>
            <p:nvPr/>
          </p:nvSpPr>
          <p:spPr>
            <a:xfrm>
              <a:off x="1072800" y="2490000"/>
              <a:ext cx="420000" cy="39900"/>
            </a:xfrm>
            <a:prstGeom prst="roundRect">
              <a:avLst>
                <a:gd fmla="val 50000" name="adj"/>
              </a:avLst>
            </a:prstGeom>
            <a:solidFill>
              <a:srgbClr val="3A7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4" name="Google Shape;1094;p26"/>
          <p:cNvSpPr txBox="1"/>
          <p:nvPr/>
        </p:nvSpPr>
        <p:spPr>
          <a:xfrm>
            <a:off x="1691640" y="2075688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UART RX · TX + FIFO 루프백 시스템 구현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5" name="Google Shape;1095;p26"/>
          <p:cNvSpPr txBox="1"/>
          <p:nvPr/>
        </p:nvSpPr>
        <p:spPr>
          <a:xfrm>
            <a:off x="1069848" y="2587752"/>
            <a:ext cx="10058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100 MHz Basys 3에서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9600 bps 8N1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로 PC가 보낸 데이터를 RX FIFO → TX FIFO를 거쳐 그대로 반환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ComportMaster로 실제 보드 동작 확인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6" name="Google Shape;1096;p26"/>
          <p:cNvSpPr txBox="1"/>
          <p:nvPr/>
        </p:nvSpPr>
        <p:spPr>
          <a:xfrm>
            <a:off x="1691640" y="3749040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16배 오버샘플링으로 비트 중앙 샘플링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26"/>
          <p:cNvSpPr txBox="1"/>
          <p:nvPr/>
        </p:nvSpPr>
        <p:spPr>
          <a:xfrm>
            <a:off x="1069848" y="4261104"/>
            <a:ext cx="10058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baud_tick_gen : 100 MHz ÷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651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 → b_tick 주기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6.51 µs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 (1 bit = 16 tick)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start bit 감지 후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8 tick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, 이후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16 tick마다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 샘플링해 비트 중앙 부근에서 데이터 수신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8" name="Google Shape;1098;p26"/>
          <p:cNvSpPr txBox="1"/>
          <p:nvPr/>
        </p:nvSpPr>
        <p:spPr>
          <a:xfrm>
            <a:off x="1691640" y="5422392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시뮬레이션으로 기능과 마진 검증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26"/>
          <p:cNvSpPr txBox="1"/>
          <p:nvPr/>
        </p:nvSpPr>
        <p:spPr>
          <a:xfrm>
            <a:off x="1069848" y="5934456"/>
            <a:ext cx="10058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S1 단일 바이트(0x55) : RX → FIFO → TX 전 경로의 상태 전이 · 타이밍 확인   |   S2 랜덤 256회 루프백 :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전부 pass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S3 송신 보레이트 오차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−4.8% ~ +6.2%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 에서 감지 위상과 무관하게 100% 정상 수신 → USB-UART(±2% 이내) 대비 충분한 마진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h7922228e669e87b5_0_23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19989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h7922228e669e87b5_0_239"/>
          <p:cNvSpPr txBox="1"/>
          <p:nvPr/>
        </p:nvSpPr>
        <p:spPr>
          <a:xfrm>
            <a:off x="1596000" y="861020"/>
            <a:ext cx="90000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고찰</a:t>
            </a:r>
            <a:endParaRPr b="0" i="0" sz="3000" u="none" cap="none" strike="noStrike">
              <a:solidFill>
                <a:srgbClr val="28282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h7922228e669e87b5_0_239"/>
          <p:cNvSpPr txBox="1"/>
          <p:nvPr/>
        </p:nvSpPr>
        <p:spPr>
          <a:xfrm>
            <a:off x="812800" y="1530000"/>
            <a:ext cx="10426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고찰</a:t>
            </a:r>
            <a:r>
              <a:rPr b="0" i="0" lang="en-US" sz="12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  배운점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8" name="Google Shape;1108;h7922228e669e87b5_0_239"/>
          <p:cNvGrpSpPr/>
          <p:nvPr/>
        </p:nvGrpSpPr>
        <p:grpSpPr>
          <a:xfrm>
            <a:off x="812800" y="1910000"/>
            <a:ext cx="10540800" cy="1525800"/>
            <a:chOff x="812800" y="1910000"/>
            <a:chExt cx="10540800" cy="1525800"/>
          </a:xfrm>
        </p:grpSpPr>
        <p:sp>
          <p:nvSpPr>
            <p:cNvPr id="1109" name="Google Shape;1109;h7922228e669e87b5_0_239"/>
            <p:cNvSpPr/>
            <p:nvPr/>
          </p:nvSpPr>
          <p:spPr>
            <a:xfrm>
              <a:off x="812800" y="1910000"/>
              <a:ext cx="10540800" cy="1525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h7922228e669e87b5_0_239"/>
            <p:cNvSpPr txBox="1"/>
            <p:nvPr/>
          </p:nvSpPr>
          <p:spPr>
            <a:xfrm>
              <a:off x="1072800" y="2060000"/>
              <a:ext cx="282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A70F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h7922228e669e87b5_0_239"/>
            <p:cNvSpPr/>
            <p:nvPr/>
          </p:nvSpPr>
          <p:spPr>
            <a:xfrm>
              <a:off x="1072800" y="2490000"/>
              <a:ext cx="420000" cy="39900"/>
            </a:xfrm>
            <a:prstGeom prst="roundRect">
              <a:avLst>
                <a:gd fmla="val 50000" name="adj"/>
              </a:avLst>
            </a:prstGeom>
            <a:solidFill>
              <a:srgbClr val="3A7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2" name="Google Shape;1112;h7922228e669e87b5_0_239"/>
          <p:cNvGrpSpPr/>
          <p:nvPr/>
        </p:nvGrpSpPr>
        <p:grpSpPr>
          <a:xfrm>
            <a:off x="825600" y="3584700"/>
            <a:ext cx="10540800" cy="1525800"/>
            <a:chOff x="812800" y="1910000"/>
            <a:chExt cx="10540800" cy="1525800"/>
          </a:xfrm>
        </p:grpSpPr>
        <p:sp>
          <p:nvSpPr>
            <p:cNvPr id="1113" name="Google Shape;1113;h7922228e669e87b5_0_239"/>
            <p:cNvSpPr/>
            <p:nvPr/>
          </p:nvSpPr>
          <p:spPr>
            <a:xfrm>
              <a:off x="812800" y="1910000"/>
              <a:ext cx="10540800" cy="1525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h7922228e669e87b5_0_239"/>
            <p:cNvSpPr txBox="1"/>
            <p:nvPr/>
          </p:nvSpPr>
          <p:spPr>
            <a:xfrm>
              <a:off x="1072800" y="2060000"/>
              <a:ext cx="282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A70FC"/>
                  </a:solidFill>
                  <a:latin typeface="Arial"/>
                  <a:ea typeface="Arial"/>
                  <a:cs typeface="Arial"/>
                  <a:sym typeface="Arial"/>
                </a:rPr>
                <a:t>02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h7922228e669e87b5_0_239"/>
            <p:cNvSpPr/>
            <p:nvPr/>
          </p:nvSpPr>
          <p:spPr>
            <a:xfrm>
              <a:off x="1072800" y="2490000"/>
              <a:ext cx="420000" cy="39900"/>
            </a:xfrm>
            <a:prstGeom prst="roundRect">
              <a:avLst>
                <a:gd fmla="val 50000" name="adj"/>
              </a:avLst>
            </a:prstGeom>
            <a:solidFill>
              <a:srgbClr val="3A7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6" name="Google Shape;1116;h7922228e669e87b5_0_239"/>
          <p:cNvGrpSpPr/>
          <p:nvPr/>
        </p:nvGrpSpPr>
        <p:grpSpPr>
          <a:xfrm>
            <a:off x="825600" y="5259400"/>
            <a:ext cx="10540800" cy="1525800"/>
            <a:chOff x="812800" y="1910000"/>
            <a:chExt cx="10540800" cy="1525800"/>
          </a:xfrm>
        </p:grpSpPr>
        <p:sp>
          <p:nvSpPr>
            <p:cNvPr id="1117" name="Google Shape;1117;h7922228e669e87b5_0_239"/>
            <p:cNvSpPr/>
            <p:nvPr/>
          </p:nvSpPr>
          <p:spPr>
            <a:xfrm>
              <a:off x="812800" y="1910000"/>
              <a:ext cx="10540800" cy="15258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254000" rotWithShape="0" algn="bl" dir="5400000" dist="76200">
                <a:srgbClr val="3A70FC">
                  <a:alpha val="10196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h7922228e669e87b5_0_239"/>
            <p:cNvSpPr txBox="1"/>
            <p:nvPr/>
          </p:nvSpPr>
          <p:spPr>
            <a:xfrm>
              <a:off x="1072800" y="2060000"/>
              <a:ext cx="282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0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3A70FC"/>
                  </a:solidFill>
                  <a:latin typeface="Arial"/>
                  <a:ea typeface="Arial"/>
                  <a:cs typeface="Arial"/>
                  <a:sym typeface="Arial"/>
                </a:rPr>
                <a:t>03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h7922228e669e87b5_0_239"/>
            <p:cNvSpPr/>
            <p:nvPr/>
          </p:nvSpPr>
          <p:spPr>
            <a:xfrm>
              <a:off x="1072800" y="2490000"/>
              <a:ext cx="420000" cy="39900"/>
            </a:xfrm>
            <a:prstGeom prst="roundRect">
              <a:avLst>
                <a:gd fmla="val 50000" name="adj"/>
              </a:avLst>
            </a:prstGeom>
            <a:solidFill>
              <a:srgbClr val="3A70F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0" name="Google Shape;1120;h7922228e669e87b5_0_239"/>
          <p:cNvSpPr txBox="1"/>
          <p:nvPr/>
        </p:nvSpPr>
        <p:spPr>
          <a:xfrm>
            <a:off x="1691640" y="2075688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감지 지연이 샘플링 위치를 결정한다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h7922228e669e87b5_0_239"/>
          <p:cNvSpPr txBox="1"/>
          <p:nvPr/>
        </p:nvSpPr>
        <p:spPr>
          <a:xfrm>
            <a:off x="1069848" y="2587752"/>
            <a:ext cx="10058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IDLE에서 b_tick마다만 rx를 확인 → start bit 감지에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0 ~ 1 tick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 지연 발생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샘플링은 감지 시점부터 세므로 실제 위치는 비트 중앙이 아닌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50 ~ 56%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 → 16배 오버샘플링은 이 오차를 1/16 bit 이내로 줄이는 방법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h7922228e669e87b5_0_239"/>
          <p:cNvSpPr txBox="1"/>
          <p:nvPr/>
        </p:nvSpPr>
        <p:spPr>
          <a:xfrm>
            <a:off x="1691640" y="3749040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오차 허용 범위는 비대칭이다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h7922228e669e87b5_0_239"/>
          <p:cNvSpPr txBox="1"/>
          <p:nvPr/>
        </p:nvSpPr>
        <p:spPr>
          <a:xfrm>
            <a:off x="1069848" y="4261104"/>
            <a:ext cx="10058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샘플링 위치가 중앙보다 약간 뒤 → 느린 송신(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+6.2%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)을 빠른 송신(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−4.8%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)보다 더 잘 견딤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첫 fail(+6.3%, −4.9%)이 D7 샘플링 위치로 계산한 이론 한계(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+6.25%, −4.86%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)와 일치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h7922228e669e87b5_0_239"/>
          <p:cNvSpPr txBox="1"/>
          <p:nvPr/>
        </p:nvSpPr>
        <p:spPr>
          <a:xfrm>
            <a:off x="1691640" y="5422392"/>
            <a:ext cx="9418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41413"/>
                </a:solidFill>
                <a:latin typeface="Arial"/>
                <a:ea typeface="Arial"/>
                <a:cs typeface="Arial"/>
                <a:sym typeface="Arial"/>
              </a:rPr>
              <a:t>테스트벤치 구조가 검증 결과를 바꾼다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h7922228e669e87b5_0_239"/>
          <p:cNvSpPr txBox="1"/>
          <p:nvPr/>
        </p:nvSpPr>
        <p:spPr>
          <a:xfrm>
            <a:off x="1069848" y="5934456"/>
            <a:ext cx="10058400" cy="7863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1 bit = 16 tick 정수배라 송신 시작이 항상 tick 직후에 고정 → 모든 바이트가 d ≈ 1 tick으로만 시험되어 + 한계가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약 7%로 과대평가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rgbClr val="3A70FC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0 ~ 1 tick </a:t>
            </a:r>
            <a:r>
              <a:rPr b="1" i="0" lang="en-US" sz="12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랜덤 지연</a:t>
            </a:r>
            <a:r>
              <a:rPr b="0" i="0" lang="en-US" sz="1200" u="none" cap="none" strike="noStrike">
                <a:solidFill>
                  <a:srgbClr val="3C4048"/>
                </a:solidFill>
                <a:latin typeface="Arial"/>
                <a:ea typeface="Arial"/>
                <a:cs typeface="Arial"/>
                <a:sym typeface="Arial"/>
              </a:rPr>
              <a:t>으로 위상을 분산해 최악 조건 한계 확인 → tb가 실제 환경을 얼마나 재현하는지가 중요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3EBFF"/>
        </a:solidFill>
      </p:bgPr>
    </p:bg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3EBFF"/>
              </a:gs>
              <a:gs pos="100000">
                <a:srgbClr val="F6F9FF"/>
              </a:gs>
            </a:gsLst>
            <a:lin ang="42000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27"/>
          <p:cNvSpPr/>
          <p:nvPr/>
        </p:nvSpPr>
        <p:spPr>
          <a:xfrm>
            <a:off x="609600" y="609600"/>
            <a:ext cx="10972800" cy="4950520"/>
          </a:xfrm>
          <a:prstGeom prst="roundRect">
            <a:avLst>
              <a:gd fmla="val 3078" name="adj"/>
            </a:avLst>
          </a:prstGeom>
          <a:solidFill>
            <a:srgbClr val="FFFFFF"/>
          </a:solidFill>
          <a:ln>
            <a:noFill/>
          </a:ln>
          <a:effectLst>
            <a:outerShdw blurRad="254000" rotWithShape="0" algn="bl" dir="5400000" dist="76200">
              <a:srgbClr val="3A70FC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27"/>
          <p:cNvSpPr/>
          <p:nvPr/>
        </p:nvSpPr>
        <p:spPr>
          <a:xfrm>
            <a:off x="1219200" y="2407940"/>
            <a:ext cx="606958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3A70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A70FC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27"/>
          <p:cNvSpPr txBox="1"/>
          <p:nvPr>
            <p:ph type="title"/>
          </p:nvPr>
        </p:nvSpPr>
        <p:spPr>
          <a:xfrm>
            <a:off x="1219200" y="2870200"/>
            <a:ext cx="6069584" cy="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6000"/>
              <a:buFont typeface="Arial"/>
              <a:buNone/>
            </a:pPr>
            <a:r>
              <a:rPr b="1" i="0" lang="en-US" sz="6000">
                <a:solidFill>
                  <a:srgbClr val="282828"/>
                </a:solidFill>
                <a:latin typeface="Arial"/>
                <a:ea typeface="Arial"/>
                <a:cs typeface="Arial"/>
                <a:sym typeface="Arial"/>
              </a:rPr>
              <a:t>감사합니다</a:t>
            </a:r>
            <a:endParaRPr sz="6000"/>
          </a:p>
        </p:txBody>
      </p:sp>
      <p:sp>
        <p:nvSpPr>
          <p:cNvPr id="1135" name="Google Shape;1135;p27"/>
          <p:cNvSpPr/>
          <p:nvPr/>
        </p:nvSpPr>
        <p:spPr>
          <a:xfrm>
            <a:off x="1219200" y="3886200"/>
            <a:ext cx="6069584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Arial"/>
                <a:ea typeface="Arial"/>
                <a:cs typeface="Arial"/>
                <a:sym typeface="Arial"/>
              </a:rPr>
              <a:t>질의응답 · Q&amp;A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겹쳐진 파란 판 세 장" id="1136" name="Google Shape;113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6800" y="1624310"/>
            <a:ext cx="3556000" cy="292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시계·스톱워치 결과 보고서">
  <a:themeElements>
    <a:clrScheme name="시계·스톱워치 결과 보고서">
      <a:dk1>
        <a:srgbClr val="141413"/>
      </a:dk1>
      <a:lt1>
        <a:srgbClr val="E3EBFF"/>
      </a:lt1>
      <a:dk2>
        <a:srgbClr val="484A4E"/>
      </a:dk2>
      <a:lt2>
        <a:srgbClr val="CED6E7"/>
      </a:lt2>
      <a:accent1>
        <a:srgbClr val="3A70FC"/>
      </a:accent1>
      <a:accent2>
        <a:srgbClr val="8BB5FE"/>
      </a:accent2>
      <a:accent3>
        <a:srgbClr val="E8590C"/>
      </a:accent3>
      <a:accent4>
        <a:srgbClr val="6E97FF"/>
      </a:accent4>
      <a:accent5>
        <a:srgbClr val="B0B0B0"/>
      </a:accent5>
      <a:accent6>
        <a:srgbClr val="8C8C8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시계·스톱워치 결과 보고서">
  <a:themeElements>
    <a:clrScheme name="시계·스톱워치 결과 보고서">
      <a:dk1>
        <a:srgbClr val="141413"/>
      </a:dk1>
      <a:lt1>
        <a:srgbClr val="E3EBFF"/>
      </a:lt1>
      <a:dk2>
        <a:srgbClr val="484A4E"/>
      </a:dk2>
      <a:lt2>
        <a:srgbClr val="CED6E7"/>
      </a:lt2>
      <a:accent1>
        <a:srgbClr val="3A70FC"/>
      </a:accent1>
      <a:accent2>
        <a:srgbClr val="8BB5FE"/>
      </a:accent2>
      <a:accent3>
        <a:srgbClr val="E8590C"/>
      </a:accent3>
      <a:accent4>
        <a:srgbClr val="6E97FF"/>
      </a:accent4>
      <a:accent5>
        <a:srgbClr val="B0B0B0"/>
      </a:accent5>
      <a:accent6>
        <a:srgbClr val="8C8C8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2026-10-18T04:23:56Z</dcterms:created>
</cp:coreProperties>
</file>